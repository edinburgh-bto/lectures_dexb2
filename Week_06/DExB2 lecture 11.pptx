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3" r:id="rId3"/>
    <p:sldId id="314" r:id="rId4"/>
    <p:sldId id="261" r:id="rId5"/>
    <p:sldId id="262" r:id="rId6"/>
    <p:sldId id="270" r:id="rId7"/>
    <p:sldId id="271" r:id="rId8"/>
    <p:sldId id="296" r:id="rId9"/>
    <p:sldId id="275" r:id="rId10"/>
    <p:sldId id="297" r:id="rId11"/>
    <p:sldId id="316" r:id="rId12"/>
    <p:sldId id="323" r:id="rId13"/>
    <p:sldId id="322" r:id="rId14"/>
    <p:sldId id="325" r:id="rId15"/>
    <p:sldId id="324" r:id="rId16"/>
    <p:sldId id="321" r:id="rId17"/>
    <p:sldId id="327" r:id="rId18"/>
    <p:sldId id="320" r:id="rId19"/>
    <p:sldId id="326" r:id="rId20"/>
    <p:sldId id="328" r:id="rId21"/>
    <p:sldId id="329" r:id="rId22"/>
    <p:sldId id="331" r:id="rId23"/>
    <p:sldId id="332" r:id="rId24"/>
    <p:sldId id="317" r:id="rId25"/>
    <p:sldId id="276" r:id="rId26"/>
    <p:sldId id="298" r:id="rId27"/>
    <p:sldId id="277" r:id="rId28"/>
    <p:sldId id="278" r:id="rId29"/>
    <p:sldId id="299" r:id="rId30"/>
    <p:sldId id="279" r:id="rId31"/>
    <p:sldId id="280" r:id="rId32"/>
    <p:sldId id="300" r:id="rId33"/>
    <p:sldId id="282" r:id="rId34"/>
    <p:sldId id="301" r:id="rId35"/>
    <p:sldId id="315" r:id="rId36"/>
    <p:sldId id="308" r:id="rId3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74DF13-67F5-D058-BF2F-914909AD0E2F}" v="118" dt="2026-10-26T11:55:41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8407CED-2363-4AAC-A280-6A47C8B9B97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562" y="1604399"/>
            <a:ext cx="10971684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B76546F-8C3F-4C66-9D15-D8592869F78A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10971684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834B5B5-D594-4243-B4D5-B210C1F5979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535413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03" y="1604399"/>
            <a:ext cx="535413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AF0756E-FE8E-464B-BBE2-406486078CC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9D9AB5A-62BE-44CF-A76B-042D58158F8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562" y="273423"/>
            <a:ext cx="10971684" cy="53073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DB49811-0DDF-4047-8E9E-C3ECC93AD71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03" y="1604399"/>
            <a:ext cx="535413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562" y="3681627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BCEE1F4-53F3-4BEA-97BA-4866259A57B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535413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03" y="1604399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03" y="3681627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7A8AC6F-BA95-4E83-8F2F-8EB46918CAB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03" y="1604399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562" y="3681627"/>
            <a:ext cx="10971684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D52F39-7E4A-4662-89B7-9198067D14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10971684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562" y="3681627"/>
            <a:ext cx="10971684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64BF408-9ADA-47A1-9E5E-1FC7C1A1594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03" y="1604399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562" y="3681627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03" y="3681627"/>
            <a:ext cx="535413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4228494-47D5-4F60-80D0-87523BD50075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353241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184" y="1604399"/>
            <a:ext cx="353241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370" y="1604399"/>
            <a:ext cx="353241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562" y="3681627"/>
            <a:ext cx="353241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184" y="3681627"/>
            <a:ext cx="353241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370" y="3681627"/>
            <a:ext cx="353241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99899BC-E99E-4541-8C2D-BF45F2E4E4D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562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GB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562" y="1604399"/>
            <a:ext cx="10971684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09562" y="6246923"/>
            <a:ext cx="2840124" cy="4723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169405" y="6246923"/>
            <a:ext cx="3864189" cy="4723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741122" y="6246923"/>
            <a:ext cx="2840124" cy="4723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8657AA5-3E87-4ED5-BC2D-0F4AFB210B7E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pPr indent="0" algn="r">
                <a:buNone/>
              </a:pPr>
              <a:t>‹#›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0" strike="noStrike" spc="-1" dirty="0">
                <a:latin typeface="Calibri"/>
                <a:ea typeface="+mj-ea"/>
                <a:cs typeface="+mj-cs"/>
              </a:rPr>
              <a:t>Data Exploration in Biology 2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400" b="0" strike="noStrike" spc="-1" dirty="0">
              <a:latin typeface="Calibri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spc="-1" dirty="0">
                <a:latin typeface="Calibri"/>
                <a:ea typeface="+mj-ea"/>
                <a:cs typeface="+mj-cs"/>
              </a:rPr>
              <a:t>Linear Models</a:t>
            </a:r>
            <a:endParaRPr lang="en-US" dirty="0"/>
          </a:p>
        </p:txBody>
      </p:sp>
      <p:sp>
        <p:nvSpPr>
          <p:cNvPr id="4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Graph on document with pen">
            <a:extLst>
              <a:ext uri="{FF2B5EF4-FFF2-40B4-BE49-F238E27FC236}">
                <a16:creationId xmlns:a16="http://schemas.microsoft.com/office/drawing/2014/main" id="{2DA7D2AC-EE35-50C5-3631-3918B629AF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99" r="9547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A21A4AC-5300-4176-B2FB-67830A38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CCDE6170-BB0E-D512-8856-1420220F6AAA}"/>
              </a:ext>
            </a:extLst>
          </p:cNvPr>
          <p:cNvSpPr txBox="1"/>
          <p:nvPr/>
        </p:nvSpPr>
        <p:spPr>
          <a:xfrm>
            <a:off x="640080" y="304800"/>
            <a:ext cx="10908792" cy="1442339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sz="5100">
                <a:latin typeface="Calibri"/>
                <a:ea typeface="Calibri"/>
                <a:cs typeface="Calibri"/>
              </a:rPr>
              <a:t>The advantages of linear models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A09F8C8-3B6F-414C-866C-80565B610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253A8-5DF6-9FC8-74CF-C1CB128EB685}"/>
              </a:ext>
            </a:extLst>
          </p:cNvPr>
          <p:cNvSpPr txBox="1"/>
          <p:nvPr/>
        </p:nvSpPr>
        <p:spPr>
          <a:xfrm>
            <a:off x="538474" y="2306092"/>
            <a:ext cx="4723012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One-Sample t-test and </a:t>
            </a:r>
            <a:r>
              <a:rPr lang="en-GB" sz="1600" i="1">
                <a:ea typeface="+mn-lt"/>
                <a:cs typeface="+mn-lt"/>
              </a:rPr>
              <a:t>z</a:t>
            </a:r>
            <a:r>
              <a:rPr lang="en-GB" sz="1600">
                <a:ea typeface="+mn-lt"/>
                <a:cs typeface="+mn-lt"/>
              </a:rPr>
              <a:t>-test</a:t>
            </a:r>
            <a:endParaRPr lang="en-GB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Independent Samples </a:t>
            </a:r>
            <a:r>
              <a:rPr lang="en-GB" sz="1600" i="1">
                <a:ea typeface="+mn-lt"/>
                <a:cs typeface="+mn-lt"/>
              </a:rPr>
              <a:t>t</a:t>
            </a:r>
            <a:r>
              <a:rPr lang="en-GB" sz="1600">
                <a:ea typeface="+mn-lt"/>
                <a:cs typeface="+mn-lt"/>
              </a:rPr>
              <a:t>-test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Paired Samples </a:t>
            </a:r>
            <a:r>
              <a:rPr lang="en-GB" sz="1600" i="1">
                <a:ea typeface="+mn-lt"/>
                <a:cs typeface="+mn-lt"/>
              </a:rPr>
              <a:t>t</a:t>
            </a:r>
            <a:r>
              <a:rPr lang="en-GB" sz="1600">
                <a:ea typeface="+mn-lt"/>
                <a:cs typeface="+mn-lt"/>
              </a:rPr>
              <a:t>-test</a:t>
            </a:r>
            <a:endParaRPr lang="en-GB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Pearson Correlation</a:t>
            </a:r>
            <a:endParaRPr lang="en-GB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Simple &amp; Multiple Linear Regression</a:t>
            </a:r>
            <a:endParaRPr lang="en-GB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ANOVA (Analysis of Variance)</a:t>
            </a:r>
            <a:endParaRPr lang="en-GB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ANCOVA (Analysis of Covariance)</a:t>
            </a:r>
            <a:endParaRPr lang="en-GB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MANOVA / MANCOVA</a:t>
            </a:r>
            <a:r>
              <a:rPr lang="en-GB" sz="1600" dirty="0">
                <a:ea typeface="+mn-lt"/>
                <a:cs typeface="+mn-lt"/>
              </a:rPr>
              <a:t> 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Binary Logistic Regression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Binomial distribution</a:t>
            </a:r>
            <a:endParaRPr lang="en-GB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Multinomial Logistic Regression</a:t>
            </a:r>
            <a:r>
              <a:rPr lang="en-GB" sz="1600" dirty="0">
                <a:ea typeface="+mn-lt"/>
                <a:cs typeface="+mn-lt"/>
              </a:rPr>
              <a:t> 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Ordinal Logistic Regression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Chi-Square Test of Independence</a:t>
            </a:r>
            <a:endParaRPr lang="en-GB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Poisson Regression (Log-Linear Models)</a:t>
            </a:r>
            <a:r>
              <a:rPr lang="en-GB" sz="1600" dirty="0">
                <a:ea typeface="+mn-lt"/>
                <a:cs typeface="+mn-lt"/>
              </a:rPr>
              <a:t> 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Negative Binomial Regression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cs typeface="Arial"/>
              </a:rPr>
              <a:t>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B4686D-082F-E4FC-14FE-5248065C56F7}"/>
              </a:ext>
            </a:extLst>
          </p:cNvPr>
          <p:cNvSpPr txBox="1"/>
          <p:nvPr/>
        </p:nvSpPr>
        <p:spPr>
          <a:xfrm>
            <a:off x="5575725" y="2934509"/>
            <a:ext cx="624670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+mn-lt"/>
                <a:cs typeface="+mn-lt"/>
              </a:rPr>
              <a:t>A single conceptual framework</a:t>
            </a: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Mix numeric and </a:t>
            </a:r>
            <a:r>
              <a:rPr lang="en-GB" dirty="0">
                <a:ea typeface="+mn-lt"/>
                <a:cs typeface="+mn-lt"/>
              </a:rPr>
              <a:t>categorical variables </a:t>
            </a:r>
            <a:r>
              <a:rPr lang="en-GB">
                <a:ea typeface="+mn-lt"/>
                <a:cs typeface="+mn-lt"/>
              </a:rPr>
              <a:t>seamlessly</a:t>
            </a: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Estimate the effect of one variable on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>
                <a:ea typeface="+mn-lt"/>
                <a:cs typeface="+mn-lt"/>
              </a:rPr>
              <a:t>another (interactions)</a:t>
            </a: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Automatically provides estimates with SE and 95% CI</a:t>
            </a:r>
          </a:p>
          <a:p>
            <a:endParaRPr lang="en-GB" dirty="0">
              <a:cs typeface="Arial"/>
            </a:endParaRPr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FFB7F43B-9196-F12F-C035-606709C79B55}"/>
              </a:ext>
            </a:extLst>
          </p:cNvPr>
          <p:cNvSpPr/>
          <p:nvPr/>
        </p:nvSpPr>
        <p:spPr>
          <a:xfrm>
            <a:off x="275331" y="1858512"/>
            <a:ext cx="4007061" cy="431617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48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461FB-7897-EA67-F2B0-20C64CF1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96706A6-B16A-F052-8752-68DB118EC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F00F4069-64AB-3D45-6CBE-E1574F3AF0A3}"/>
              </a:ext>
            </a:extLst>
          </p:cNvPr>
          <p:cNvSpPr txBox="1"/>
          <p:nvPr/>
        </p:nvSpPr>
        <p:spPr>
          <a:xfrm>
            <a:off x="640080" y="304800"/>
            <a:ext cx="10908792" cy="1442339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>
                <a:latin typeface="Calibri"/>
                <a:ea typeface="+mj-ea"/>
                <a:cs typeface="+mj-cs"/>
              </a:rPr>
              <a:t>Ground finch beak depths</a:t>
            </a:r>
            <a:endParaRPr lang="en-US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1222150-6590-3AD7-BF19-2605760B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ird sitting on a branch&#10;&#10;AI-generated content may be incorrect.">
            <a:extLst>
              <a:ext uri="{FF2B5EF4-FFF2-40B4-BE49-F238E27FC236}">
                <a16:creationId xmlns:a16="http://schemas.microsoft.com/office/drawing/2014/main" id="{02490CF8-1C02-2597-D824-6F6176B16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91" y="2062842"/>
            <a:ext cx="6717847" cy="46917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A6D6BA-4E86-199C-7CF6-130F6A6A67E0}"/>
              </a:ext>
            </a:extLst>
          </p:cNvPr>
          <p:cNvSpPr txBox="1"/>
          <p:nvPr/>
        </p:nvSpPr>
        <p:spPr>
          <a:xfrm>
            <a:off x="7486845" y="3878299"/>
            <a:ext cx="4214929" cy="1056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200" b="1" spc="-1" dirty="0">
                <a:latin typeface="Calibri"/>
              </a:rPr>
              <a:t>Did ground finch beak depths evolve during a 1977 drought and by how much?</a:t>
            </a:r>
          </a:p>
        </p:txBody>
      </p:sp>
    </p:spTree>
    <p:extLst>
      <p:ext uri="{BB962C8B-B14F-4D97-AF65-F5344CB8AC3E}">
        <p14:creationId xmlns:p14="http://schemas.microsoft.com/office/powerpoint/2010/main" val="296271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85A030-98AF-A722-4D55-49BE47ED9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491" y="0"/>
            <a:ext cx="895701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88AF38-6C55-C976-460C-13EFEC00EE8B}"/>
              </a:ext>
            </a:extLst>
          </p:cNvPr>
          <p:cNvSpPr txBox="1"/>
          <p:nvPr/>
        </p:nvSpPr>
        <p:spPr>
          <a:xfrm>
            <a:off x="5187284" y="2540256"/>
            <a:ext cx="51918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</a:rPr>
              <a:t>"year" is a categorical variable</a:t>
            </a:r>
          </a:p>
          <a:p>
            <a:endParaRPr lang="en-US" dirty="0">
              <a:latin typeface="Calibri"/>
            </a:endParaRPr>
          </a:p>
          <a:p>
            <a:r>
              <a:rPr lang="en-US">
                <a:latin typeface="Calibri"/>
              </a:rPr>
              <a:t>It has two categories (levels) of 1976 and 1978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960FE-EE0D-DF82-E80E-9B1336957CCD}"/>
              </a:ext>
            </a:extLst>
          </p:cNvPr>
          <p:cNvSpPr txBox="1"/>
          <p:nvPr/>
        </p:nvSpPr>
        <p:spPr>
          <a:xfrm>
            <a:off x="5187284" y="4060415"/>
            <a:ext cx="502751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</a:rPr>
              <a:t>"depth" is a continuous numerical variable</a:t>
            </a:r>
          </a:p>
          <a:p>
            <a:endParaRPr lang="en-US" dirty="0">
              <a:latin typeface="Calibri"/>
            </a:endParaRPr>
          </a:p>
          <a:p>
            <a:r>
              <a:rPr lang="en-US">
                <a:latin typeface="Calibri"/>
              </a:rPr>
              <a:t>It is measured to the nearest tenth of a 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7CE50-0F92-2339-4607-2CFB63B6BE63}"/>
              </a:ext>
            </a:extLst>
          </p:cNvPr>
          <p:cNvSpPr txBox="1"/>
          <p:nvPr/>
        </p:nvSpPr>
        <p:spPr>
          <a:xfrm>
            <a:off x="5187284" y="1669948"/>
            <a:ext cx="49007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</a:rPr>
              <a:t>Each row is an observation of a single finch</a:t>
            </a:r>
            <a:endParaRPr lang="en-US" dirty="0">
              <a:latin typeface="Calibri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58ADC5-C0D8-00D1-D956-8D076D6C13BD}"/>
              </a:ext>
            </a:extLst>
          </p:cNvPr>
          <p:cNvCxnSpPr/>
          <p:nvPr/>
        </p:nvCxnSpPr>
        <p:spPr>
          <a:xfrm flipH="1">
            <a:off x="3534390" y="1882570"/>
            <a:ext cx="1654277" cy="4915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11092C-C969-3001-4FA3-A536D695CD5D}"/>
              </a:ext>
            </a:extLst>
          </p:cNvPr>
          <p:cNvCxnSpPr>
            <a:cxnSpLocks/>
          </p:cNvCxnSpPr>
          <p:nvPr/>
        </p:nvCxnSpPr>
        <p:spPr>
          <a:xfrm flipH="1" flipV="1">
            <a:off x="2643343" y="1653968"/>
            <a:ext cx="2551468" cy="1304004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FE89D6-22F8-3484-344A-3FDAE1FDD1EB}"/>
              </a:ext>
            </a:extLst>
          </p:cNvPr>
          <p:cNvCxnSpPr>
            <a:cxnSpLocks/>
          </p:cNvCxnSpPr>
          <p:nvPr/>
        </p:nvCxnSpPr>
        <p:spPr>
          <a:xfrm flipH="1" flipV="1">
            <a:off x="3411486" y="1629387"/>
            <a:ext cx="1814051" cy="2858731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4BC8D8F8-2BDB-ACEB-A61D-5CE8553A6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0" y="590740"/>
            <a:ext cx="6771725" cy="5641351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585317" y="6172694"/>
            <a:ext cx="322596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Explanatory variable</a:t>
            </a:r>
          </a:p>
        </p:txBody>
      </p:sp>
      <p:sp>
        <p:nvSpPr>
          <p:cNvPr id="95" name="TextBox 94"/>
          <p:cNvSpPr txBox="1"/>
          <p:nvPr/>
        </p:nvSpPr>
        <p:spPr>
          <a:xfrm rot="16200000">
            <a:off x="-763990" y="2684866"/>
            <a:ext cx="338652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Response variable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6CBEB-E894-7020-E98E-A406DFF444BE}"/>
              </a:ext>
            </a:extLst>
          </p:cNvPr>
          <p:cNvSpPr txBox="1"/>
          <p:nvPr/>
        </p:nvSpPr>
        <p:spPr>
          <a:xfrm>
            <a:off x="8383565" y="1704433"/>
            <a:ext cx="32853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A swarm plot is good for this dataset because there are few data and we can see how the individual data are distributed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743A92-2E8B-3B19-C194-F0ABF25FF0DF}"/>
              </a:ext>
            </a:extLst>
          </p:cNvPr>
          <p:cNvCxnSpPr/>
          <p:nvPr/>
        </p:nvCxnSpPr>
        <p:spPr>
          <a:xfrm flipV="1">
            <a:off x="2179075" y="3386744"/>
            <a:ext cx="2813253" cy="7374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6E341D-6FB2-F405-83A9-54C452E91862}"/>
              </a:ext>
            </a:extLst>
          </p:cNvPr>
          <p:cNvCxnSpPr>
            <a:cxnSpLocks/>
          </p:cNvCxnSpPr>
          <p:nvPr/>
        </p:nvCxnSpPr>
        <p:spPr>
          <a:xfrm flipV="1">
            <a:off x="4864510" y="3014054"/>
            <a:ext cx="2813253" cy="1228"/>
          </a:xfrm>
          <a:prstGeom prst="straightConnector1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24EFA21-3085-53CF-3D8D-5DA34946A70A}"/>
              </a:ext>
            </a:extLst>
          </p:cNvPr>
          <p:cNvSpPr/>
          <p:nvPr/>
        </p:nvSpPr>
        <p:spPr>
          <a:xfrm>
            <a:off x="6786562" y="2857967"/>
            <a:ext cx="1216741" cy="3871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9.982 mm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296104-B6D1-8D16-7BD1-8156A3436CD7}"/>
              </a:ext>
            </a:extLst>
          </p:cNvPr>
          <p:cNvSpPr/>
          <p:nvPr/>
        </p:nvSpPr>
        <p:spPr>
          <a:xfrm>
            <a:off x="1882723" y="3212221"/>
            <a:ext cx="1216741" cy="3871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9.488 mm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3B3907-2DF8-CDBE-09C1-59F8E4264302}"/>
              </a:ext>
            </a:extLst>
          </p:cNvPr>
          <p:cNvCxnSpPr/>
          <p:nvPr/>
        </p:nvCxnSpPr>
        <p:spPr>
          <a:xfrm flipH="1">
            <a:off x="4966051" y="3064743"/>
            <a:ext cx="1229" cy="243977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66B61-971B-AF21-F53F-D793383381F8}"/>
              </a:ext>
            </a:extLst>
          </p:cNvPr>
          <p:cNvSpPr/>
          <p:nvPr/>
        </p:nvSpPr>
        <p:spPr>
          <a:xfrm>
            <a:off x="4330241" y="2486072"/>
            <a:ext cx="1216741" cy="38714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0.494 mm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DA7FE0-26BF-490B-4E7A-5EBF3C9D7A93}"/>
              </a:ext>
            </a:extLst>
          </p:cNvPr>
          <p:cNvSpPr txBox="1"/>
          <p:nvPr/>
        </p:nvSpPr>
        <p:spPr>
          <a:xfrm>
            <a:off x="8382000" y="4659152"/>
            <a:ext cx="32902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Arial"/>
              </a:rPr>
              <a:t>How compatible are these data with the null hypothesis of </a:t>
            </a:r>
            <a:r>
              <a:rPr lang="en-US" b="1" dirty="0">
                <a:latin typeface="Calibri"/>
                <a:cs typeface="Arial"/>
              </a:rPr>
              <a:t>no difference</a:t>
            </a:r>
            <a:r>
              <a:rPr lang="en-US" dirty="0">
                <a:latin typeface="Calibri"/>
                <a:cs typeface="Arial"/>
              </a:rPr>
              <a:t> in beak depths between 1976 and 1978?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98AAAA-4D5A-F7BF-CCFA-FFD5479C298B}"/>
              </a:ext>
            </a:extLst>
          </p:cNvPr>
          <p:cNvSpPr txBox="1"/>
          <p:nvPr/>
        </p:nvSpPr>
        <p:spPr>
          <a:xfrm>
            <a:off x="8383866" y="3306310"/>
            <a:ext cx="283159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Each circle is an observation </a:t>
            </a:r>
            <a:r>
              <a:rPr lang="en-US">
                <a:latin typeface="Calibri"/>
              </a:rPr>
              <a:t>of a single finch</a:t>
            </a:r>
            <a:endParaRPr lang="en-US" dirty="0">
              <a:latin typeface="Calibri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5933BB-05A6-15D2-7D94-124F5872E4E7}"/>
              </a:ext>
            </a:extLst>
          </p:cNvPr>
          <p:cNvCxnSpPr/>
          <p:nvPr/>
        </p:nvCxnSpPr>
        <p:spPr>
          <a:xfrm flipH="1" flipV="1">
            <a:off x="6724982" y="1938196"/>
            <a:ext cx="1653922" cy="1543865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8" grpId="0" animBg="1"/>
      <p:bldP spid="9" grpId="0" animBg="1"/>
      <p:bldP spid="11" grpId="0" animBg="1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0" strike="noStrike" kern="1200" spc="-1" dirty="0">
                <a:latin typeface="Calibri"/>
                <a:ea typeface="+mj-ea"/>
                <a:cs typeface="+mj-cs"/>
              </a:rPr>
              <a:t>How we do this on the computer:</a:t>
            </a:r>
            <a:r>
              <a:rPr lang="en-US" sz="4100" spc="-1" dirty="0">
                <a:latin typeface="Calibri"/>
                <a:ea typeface="+mj-ea"/>
                <a:cs typeface="+mj-cs"/>
              </a:rPr>
              <a:t> </a:t>
            </a:r>
            <a:endParaRPr lang="en-US" sz="2150">
              <a:latin typeface="Calibri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spc="-1" dirty="0">
                <a:latin typeface="Calibri"/>
                <a:ea typeface="+mj-ea"/>
                <a:cs typeface="+mj-cs"/>
              </a:rPr>
              <a:t>Modelling</a:t>
            </a:r>
            <a:r>
              <a:rPr lang="en-US" sz="4100" b="0" strike="noStrike" kern="1200" spc="-1" dirty="0">
                <a:latin typeface="Calibri"/>
                <a:ea typeface="+mj-ea"/>
                <a:cs typeface="+mj-cs"/>
              </a:rPr>
              <a:t> the data</a:t>
            </a:r>
            <a:endParaRPr lang="en-US" sz="2150">
              <a:latin typeface="Calibri"/>
            </a:endParaRPr>
          </a:p>
        </p:txBody>
      </p:sp>
      <p:sp>
        <p:nvSpPr>
          <p:cNvPr id="13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/>
          <p:cNvSpPr txBox="1"/>
          <p:nvPr/>
        </p:nvSpPr>
        <p:spPr>
          <a:xfrm>
            <a:off x="1221776" y="2923785"/>
            <a:ext cx="4497467" cy="101012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406">
              <a:spcAft>
                <a:spcPts val="600"/>
              </a:spcAft>
            </a:pP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model tells us how the response and explanatory variables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are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related</a:t>
            </a:r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169543" y="6020815"/>
            <a:ext cx="6566034" cy="61266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406">
              <a:spcAft>
                <a:spcPts val="600"/>
              </a:spcAft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Model formula:      </a:t>
            </a:r>
            <a:r>
              <a:rPr lang="en-GB" sz="2400" spc="-1" dirty="0">
                <a:solidFill>
                  <a:srgbClr val="000000"/>
                </a:solidFill>
                <a:latin typeface="Consolas"/>
              </a:rPr>
              <a:t>depth</a:t>
            </a:r>
            <a:r>
              <a:rPr lang="en-GB" sz="2400" kern="1200" spc="-1" dirty="0"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 </a:t>
            </a:r>
            <a:r>
              <a:rPr lang="en-GB" sz="2400" b="1" kern="1200" spc="-1" dirty="0"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~</a:t>
            </a:r>
            <a:r>
              <a:rPr lang="en-GB" sz="2400" kern="1200" spc="-1" dirty="0"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 </a:t>
            </a:r>
            <a:r>
              <a:rPr lang="en-GB" sz="2400" spc="-1" dirty="0">
                <a:solidFill>
                  <a:srgbClr val="000000"/>
                </a:solidFill>
                <a:latin typeface="Consolas"/>
              </a:rPr>
              <a:t>C(year)</a:t>
            </a:r>
            <a:endParaRPr lang="en-GB" sz="2400" b="0" strike="noStrike" spc="-1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92030" y="5486811"/>
            <a:ext cx="11215200" cy="3101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406">
              <a:spcAft>
                <a:spcPts val="600"/>
              </a:spcAft>
            </a:pP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“Mean </a:t>
            </a:r>
            <a:r>
              <a:rPr lang="en-GB" sz="2000" b="1" spc="-1" dirty="0">
                <a:solidFill>
                  <a:srgbClr val="000000"/>
                </a:solidFill>
                <a:latin typeface="Calibri"/>
              </a:rPr>
              <a:t>beak</a:t>
            </a:r>
            <a:r>
              <a:rPr lang="en-GB" sz="2000" b="1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GB" sz="2000" b="1" spc="-1" dirty="0">
                <a:solidFill>
                  <a:srgbClr val="000000"/>
                </a:solidFill>
                <a:latin typeface="Calibri"/>
              </a:rPr>
              <a:t>depth 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of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ground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finches </a:t>
            </a:r>
            <a:r>
              <a:rPr lang="en-GB" sz="2000" b="1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is related to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the </a:t>
            </a:r>
            <a:r>
              <a:rPr lang="en-GB" sz="2000" b="1" spc="-1">
                <a:solidFill>
                  <a:srgbClr val="000000"/>
                </a:solidFill>
                <a:latin typeface="Calibri"/>
              </a:rPr>
              <a:t>year</a:t>
            </a:r>
            <a:r>
              <a:rPr lang="en-GB" sz="2000" b="1" kern="1200" spc="-1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they were measured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”</a:t>
            </a:r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 descr="A graph of a number of blue dots&#10;&#10;AI-generated content may be incorrect.">
            <a:extLst>
              <a:ext uri="{FF2B5EF4-FFF2-40B4-BE49-F238E27FC236}">
                <a16:creationId xmlns:a16="http://schemas.microsoft.com/office/drawing/2014/main" id="{59BAA49B-0A13-F8AA-7384-1C5A5AA9E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624" y="2253397"/>
            <a:ext cx="3716468" cy="27721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FCE3F-CB25-500B-D1CA-999D9C1BBFBF}"/>
              </a:ext>
            </a:extLst>
          </p:cNvPr>
          <p:cNvSpPr txBox="1"/>
          <p:nvPr/>
        </p:nvSpPr>
        <p:spPr>
          <a:xfrm>
            <a:off x="7645336" y="5983295"/>
            <a:ext cx="43400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rial"/>
                <a:cs typeface="Arial"/>
              </a:rPr>
              <a:t>"</a:t>
            </a:r>
            <a:r>
              <a:rPr lang="en-GB">
                <a:latin typeface="Consolas"/>
              </a:rPr>
              <a:t>C(year)</a:t>
            </a:r>
            <a:r>
              <a:rPr lang="en-GB"/>
              <a:t>" tells python to treat "</a:t>
            </a:r>
            <a:r>
              <a:rPr lang="en-GB" dirty="0">
                <a:latin typeface="Consolas"/>
              </a:rPr>
              <a:t>year</a:t>
            </a:r>
            <a:r>
              <a:rPr lang="en-GB" dirty="0"/>
              <a:t>" as categorical rather than numerical</a:t>
            </a: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999E838-F7A3-4E83-16DA-E298C46F4119}"/>
              </a:ext>
            </a:extLst>
          </p:cNvPr>
          <p:cNvCxnSpPr/>
          <p:nvPr/>
        </p:nvCxnSpPr>
        <p:spPr>
          <a:xfrm flipH="1" flipV="1">
            <a:off x="5776511" y="6298498"/>
            <a:ext cx="1750750" cy="25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9" grpId="0"/>
      <p:bldP spid="130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C3FA63C-8211-5F42-37A9-4AD06CB95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282" y="1738678"/>
            <a:ext cx="5858609" cy="2589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FF5598-0BDA-05EF-2709-6B3D9B2871DB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spc="-1" dirty="0">
                <a:latin typeface="Calibri"/>
                <a:ea typeface="+mj-ea"/>
                <a:cs typeface="+mj-cs"/>
              </a:rPr>
              <a:t>Modelling</a:t>
            </a:r>
            <a:r>
              <a:rPr lang="en-US" sz="4100" b="0" strike="noStrike" kern="1200" spc="-1" dirty="0">
                <a:latin typeface="Calibri"/>
                <a:ea typeface="+mj-ea"/>
                <a:cs typeface="+mj-cs"/>
              </a:rPr>
              <a:t> the data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E2FA5328-4F5A-08C9-260F-0C980A916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B66E45-293C-DED5-818B-0D355D3E6574}"/>
              </a:ext>
            </a:extLst>
          </p:cNvPr>
          <p:cNvSpPr txBox="1"/>
          <p:nvPr/>
        </p:nvSpPr>
        <p:spPr>
          <a:xfrm>
            <a:off x="8714213" y="2070958"/>
            <a:ext cx="3041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Code model formula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2A509-F748-246F-4D03-4031DEC7BEBA}"/>
              </a:ext>
            </a:extLst>
          </p:cNvPr>
          <p:cNvSpPr txBox="1"/>
          <p:nvPr/>
        </p:nvSpPr>
        <p:spPr>
          <a:xfrm>
            <a:off x="8714213" y="2959243"/>
            <a:ext cx="2836591" cy="3662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Fit model to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BA11E-6561-1F71-25E9-8CDC36EAD95C}"/>
              </a:ext>
            </a:extLst>
          </p:cNvPr>
          <p:cNvSpPr txBox="1"/>
          <p:nvPr/>
        </p:nvSpPr>
        <p:spPr>
          <a:xfrm>
            <a:off x="8714213" y="3799158"/>
            <a:ext cx="24958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Output results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7004E8-4E03-5182-DB2C-F39C16C63C6B}"/>
              </a:ext>
            </a:extLst>
          </p:cNvPr>
          <p:cNvCxnSpPr/>
          <p:nvPr/>
        </p:nvCxnSpPr>
        <p:spPr>
          <a:xfrm flipH="1">
            <a:off x="6423102" y="2275087"/>
            <a:ext cx="2331844" cy="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E893E7-1573-9330-5BAB-AE2BB4E5E9EA}"/>
              </a:ext>
            </a:extLst>
          </p:cNvPr>
          <p:cNvCxnSpPr>
            <a:cxnSpLocks/>
          </p:cNvCxnSpPr>
          <p:nvPr/>
        </p:nvCxnSpPr>
        <p:spPr>
          <a:xfrm flipH="1">
            <a:off x="7147932" y="3140139"/>
            <a:ext cx="1607015" cy="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E503B2-80DF-A5A9-A4C3-F093E2CA0BC4}"/>
              </a:ext>
            </a:extLst>
          </p:cNvPr>
          <p:cNvCxnSpPr>
            <a:cxnSpLocks/>
          </p:cNvCxnSpPr>
          <p:nvPr/>
        </p:nvCxnSpPr>
        <p:spPr>
          <a:xfrm flipH="1">
            <a:off x="7755053" y="3987799"/>
            <a:ext cx="999893" cy="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C6746FD-F34F-CF9A-0E12-D56476B17A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93" t="67283" r="28030" b="1154"/>
          <a:stretch>
            <a:fillRect/>
          </a:stretch>
        </p:blipFill>
        <p:spPr>
          <a:xfrm>
            <a:off x="2322057" y="4540448"/>
            <a:ext cx="7363807" cy="166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AF7A65A-36DD-468F-CFE1-48EBD06A9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3" t="67283" r="28030" b="1154"/>
          <a:stretch>
            <a:fillRect/>
          </a:stretch>
        </p:blipFill>
        <p:spPr>
          <a:xfrm>
            <a:off x="1625371" y="273247"/>
            <a:ext cx="5738207" cy="1277459"/>
          </a:xfrm>
          <a:prstGeom prst="rect">
            <a:avLst/>
          </a:prstGeom>
        </p:spPr>
      </p:pic>
      <p:pic>
        <p:nvPicPr>
          <p:cNvPr id="20" name="Picture 19" descr="A graph of a number of blue dots&#10;&#10;AI-generated content may be incorrect.">
            <a:extLst>
              <a:ext uri="{FF2B5EF4-FFF2-40B4-BE49-F238E27FC236}">
                <a16:creationId xmlns:a16="http://schemas.microsoft.com/office/drawing/2014/main" id="{BE9820D2-55F0-ED00-6F59-8102442C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" r="142"/>
          <a:stretch>
            <a:fillRect/>
          </a:stretch>
        </p:blipFill>
        <p:spPr>
          <a:xfrm>
            <a:off x="826808" y="1901582"/>
            <a:ext cx="6510599" cy="487009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743A92-2E8B-3B19-C194-F0ABF25FF0DF}"/>
              </a:ext>
            </a:extLst>
          </p:cNvPr>
          <p:cNvCxnSpPr/>
          <p:nvPr/>
        </p:nvCxnSpPr>
        <p:spPr>
          <a:xfrm flipV="1">
            <a:off x="1627075" y="4034344"/>
            <a:ext cx="2813253" cy="7374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6E341D-6FB2-F405-83A9-54C452E91862}"/>
              </a:ext>
            </a:extLst>
          </p:cNvPr>
          <p:cNvCxnSpPr>
            <a:cxnSpLocks/>
          </p:cNvCxnSpPr>
          <p:nvPr/>
        </p:nvCxnSpPr>
        <p:spPr>
          <a:xfrm flipV="1">
            <a:off x="4312510" y="3763254"/>
            <a:ext cx="2813253" cy="1228"/>
          </a:xfrm>
          <a:prstGeom prst="straightConnector1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24EFA21-3085-53CF-3D8D-5DA34946A70A}"/>
              </a:ext>
            </a:extLst>
          </p:cNvPr>
          <p:cNvSpPr/>
          <p:nvPr/>
        </p:nvSpPr>
        <p:spPr>
          <a:xfrm>
            <a:off x="6234562" y="3578139"/>
            <a:ext cx="1216741" cy="3871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9.982 mm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296104-B6D1-8D16-7BD1-8156A3436CD7}"/>
              </a:ext>
            </a:extLst>
          </p:cNvPr>
          <p:cNvSpPr/>
          <p:nvPr/>
        </p:nvSpPr>
        <p:spPr>
          <a:xfrm>
            <a:off x="1330723" y="3859821"/>
            <a:ext cx="1216741" cy="3871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9.488 mm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3B3907-2DF8-CDBE-09C1-59F8E4264302}"/>
              </a:ext>
            </a:extLst>
          </p:cNvPr>
          <p:cNvCxnSpPr/>
          <p:nvPr/>
        </p:nvCxnSpPr>
        <p:spPr>
          <a:xfrm flipH="1">
            <a:off x="4385023" y="3748629"/>
            <a:ext cx="1229" cy="258491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66B61-971B-AF21-F53F-D793383381F8}"/>
              </a:ext>
            </a:extLst>
          </p:cNvPr>
          <p:cNvSpPr/>
          <p:nvPr/>
        </p:nvSpPr>
        <p:spPr>
          <a:xfrm>
            <a:off x="3778241" y="3278815"/>
            <a:ext cx="1216741" cy="38714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0.494 mm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3084BAF-1501-8E9F-72F5-EB7BE2ABB002}"/>
              </a:ext>
            </a:extLst>
          </p:cNvPr>
          <p:cNvCxnSpPr/>
          <p:nvPr/>
        </p:nvCxnSpPr>
        <p:spPr>
          <a:xfrm flipH="1">
            <a:off x="1891200" y="1116531"/>
            <a:ext cx="1559677" cy="26029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CC8529-6F96-A1FA-DC6F-7F207D689192}"/>
              </a:ext>
            </a:extLst>
          </p:cNvPr>
          <p:cNvCxnSpPr>
            <a:cxnSpLocks/>
          </p:cNvCxnSpPr>
          <p:nvPr/>
        </p:nvCxnSpPr>
        <p:spPr>
          <a:xfrm>
            <a:off x="3484166" y="1507591"/>
            <a:ext cx="909034" cy="1743548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4CA8288-87CB-B097-CFE0-66740017778F}"/>
              </a:ext>
            </a:extLst>
          </p:cNvPr>
          <p:cNvSpPr/>
          <p:nvPr/>
        </p:nvSpPr>
        <p:spPr>
          <a:xfrm>
            <a:off x="4588498" y="1112248"/>
            <a:ext cx="1266000" cy="420000"/>
          </a:xfrm>
          <a:custGeom>
            <a:avLst/>
            <a:gdLst>
              <a:gd name="connsiteX0" fmla="*/ 0 w 1266000"/>
              <a:gd name="connsiteY0" fmla="*/ 70001 h 420000"/>
              <a:gd name="connsiteX1" fmla="*/ 70001 w 1266000"/>
              <a:gd name="connsiteY1" fmla="*/ 0 h 420000"/>
              <a:gd name="connsiteX2" fmla="*/ 655520 w 1266000"/>
              <a:gd name="connsiteY2" fmla="*/ 0 h 420000"/>
              <a:gd name="connsiteX3" fmla="*/ 1195999 w 1266000"/>
              <a:gd name="connsiteY3" fmla="*/ 0 h 420000"/>
              <a:gd name="connsiteX4" fmla="*/ 1266000 w 1266000"/>
              <a:gd name="connsiteY4" fmla="*/ 70001 h 420000"/>
              <a:gd name="connsiteX5" fmla="*/ 1266000 w 1266000"/>
              <a:gd name="connsiteY5" fmla="*/ 349999 h 420000"/>
              <a:gd name="connsiteX6" fmla="*/ 1195999 w 1266000"/>
              <a:gd name="connsiteY6" fmla="*/ 420000 h 420000"/>
              <a:gd name="connsiteX7" fmla="*/ 666780 w 1266000"/>
              <a:gd name="connsiteY7" fmla="*/ 420000 h 420000"/>
              <a:gd name="connsiteX8" fmla="*/ 70001 w 1266000"/>
              <a:gd name="connsiteY8" fmla="*/ 420000 h 420000"/>
              <a:gd name="connsiteX9" fmla="*/ 0 w 1266000"/>
              <a:gd name="connsiteY9" fmla="*/ 349999 h 420000"/>
              <a:gd name="connsiteX10" fmla="*/ 0 w 1266000"/>
              <a:gd name="connsiteY10" fmla="*/ 70001 h 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66000" h="420000" extrusionOk="0">
                <a:moveTo>
                  <a:pt x="0" y="70001"/>
                </a:moveTo>
                <a:cubicBezTo>
                  <a:pt x="-455" y="29912"/>
                  <a:pt x="25451" y="507"/>
                  <a:pt x="70001" y="0"/>
                </a:cubicBezTo>
                <a:cubicBezTo>
                  <a:pt x="322422" y="-13448"/>
                  <a:pt x="535166" y="11886"/>
                  <a:pt x="655520" y="0"/>
                </a:cubicBezTo>
                <a:cubicBezTo>
                  <a:pt x="775874" y="-11886"/>
                  <a:pt x="1056092" y="39701"/>
                  <a:pt x="1195999" y="0"/>
                </a:cubicBezTo>
                <a:cubicBezTo>
                  <a:pt x="1227842" y="4731"/>
                  <a:pt x="1257897" y="24049"/>
                  <a:pt x="1266000" y="70001"/>
                </a:cubicBezTo>
                <a:cubicBezTo>
                  <a:pt x="1269311" y="192513"/>
                  <a:pt x="1242845" y="238452"/>
                  <a:pt x="1266000" y="349999"/>
                </a:cubicBezTo>
                <a:cubicBezTo>
                  <a:pt x="1260865" y="396072"/>
                  <a:pt x="1237263" y="429549"/>
                  <a:pt x="1195999" y="420000"/>
                </a:cubicBezTo>
                <a:cubicBezTo>
                  <a:pt x="953197" y="428333"/>
                  <a:pt x="783203" y="395456"/>
                  <a:pt x="666780" y="420000"/>
                </a:cubicBezTo>
                <a:cubicBezTo>
                  <a:pt x="550357" y="444544"/>
                  <a:pt x="265342" y="411541"/>
                  <a:pt x="70001" y="420000"/>
                </a:cubicBezTo>
                <a:cubicBezTo>
                  <a:pt x="23829" y="415399"/>
                  <a:pt x="1363" y="389060"/>
                  <a:pt x="0" y="349999"/>
                </a:cubicBezTo>
                <a:cubicBezTo>
                  <a:pt x="-686" y="229153"/>
                  <a:pt x="4041" y="202808"/>
                  <a:pt x="0" y="70001"/>
                </a:cubicBezTo>
                <a:close/>
              </a:path>
            </a:pathLst>
          </a:custGeom>
          <a:noFill/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AED2D8-4C25-CDA9-9841-AD62C833BE3E}"/>
              </a:ext>
            </a:extLst>
          </p:cNvPr>
          <p:cNvCxnSpPr>
            <a:cxnSpLocks/>
          </p:cNvCxnSpPr>
          <p:nvPr/>
        </p:nvCxnSpPr>
        <p:spPr>
          <a:xfrm>
            <a:off x="5200799" y="1525799"/>
            <a:ext cx="2540400" cy="31440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E1B7A6-AC8C-DB77-598A-D8356437B8A8}"/>
              </a:ext>
            </a:extLst>
          </p:cNvPr>
          <p:cNvSpPr/>
          <p:nvPr/>
        </p:nvSpPr>
        <p:spPr>
          <a:xfrm>
            <a:off x="7746603" y="1535935"/>
            <a:ext cx="4000354" cy="31664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i="1">
                <a:solidFill>
                  <a:schemeClr val="bg1"/>
                </a:solidFill>
                <a:latin typeface="Calibri"/>
                <a:cs typeface="Arial"/>
              </a:rPr>
              <a:t>t</a:t>
            </a:r>
            <a:r>
              <a:rPr lang="en-GB">
                <a:solidFill>
                  <a:schemeClr val="bg1"/>
                </a:solidFill>
                <a:latin typeface="Calibri"/>
                <a:cs typeface="Arial"/>
              </a:rPr>
              <a:t> test of whether 0.49 mm is </a:t>
            </a:r>
            <a:r>
              <a:rPr lang="en-GB" dirty="0">
                <a:solidFill>
                  <a:schemeClr val="bg1"/>
                </a:solidFill>
                <a:latin typeface="Calibri"/>
                <a:cs typeface="Arial"/>
              </a:rPr>
              <a:t>significantly different from zero</a:t>
            </a:r>
            <a:endParaRPr lang="en-US">
              <a:solidFill>
                <a:schemeClr val="bg1"/>
              </a:solidFill>
              <a:latin typeface="Calibri"/>
              <a:cs typeface="Arial"/>
            </a:endParaRPr>
          </a:p>
          <a:p>
            <a:endParaRPr lang="en-GB" dirty="0">
              <a:solidFill>
                <a:schemeClr val="bg1"/>
              </a:solidFill>
              <a:latin typeface="Calibri"/>
              <a:cs typeface="Arial"/>
            </a:endParaRPr>
          </a:p>
          <a:p>
            <a:r>
              <a:rPr lang="en-GB" i="1" dirty="0">
                <a:solidFill>
                  <a:schemeClr val="bg1"/>
                </a:solidFill>
                <a:latin typeface="Calibri"/>
                <a:cs typeface="Arial"/>
              </a:rPr>
              <a:t>P</a:t>
            </a:r>
            <a:r>
              <a:rPr lang="en-GB" dirty="0">
                <a:solidFill>
                  <a:schemeClr val="bg1"/>
                </a:solidFill>
                <a:latin typeface="Calibri"/>
                <a:cs typeface="Arial"/>
              </a:rPr>
              <a:t> = 0.002</a:t>
            </a:r>
          </a:p>
          <a:p>
            <a:endParaRPr lang="en-GB" dirty="0">
              <a:solidFill>
                <a:schemeClr val="bg1"/>
              </a:solidFill>
              <a:latin typeface="Calibri"/>
              <a:cs typeface="Arial"/>
            </a:endParaRPr>
          </a:p>
          <a:p>
            <a:r>
              <a:rPr lang="en-GB" dirty="0">
                <a:solidFill>
                  <a:schemeClr val="bg1"/>
                </a:solidFill>
                <a:latin typeface="Calibri"/>
                <a:cs typeface="Arial"/>
              </a:rPr>
              <a:t>Data are incompatible with the null hypothesis of no difference</a:t>
            </a:r>
          </a:p>
          <a:p>
            <a:endParaRPr lang="en-GB" dirty="0">
              <a:solidFill>
                <a:schemeClr val="bg1"/>
              </a:solidFill>
              <a:latin typeface="Calibri"/>
              <a:cs typeface="Arial"/>
            </a:endParaRPr>
          </a:p>
          <a:p>
            <a:r>
              <a:rPr lang="en-GB" dirty="0">
                <a:solidFill>
                  <a:schemeClr val="bg1"/>
                </a:solidFill>
                <a:latin typeface="Calibri"/>
                <a:cs typeface="Arial"/>
              </a:rPr>
              <a:t>Therefore, 0.49 mm is significantly different from zero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60A1D0-39AE-AAA2-0F2D-91F9D952F1AF}"/>
              </a:ext>
            </a:extLst>
          </p:cNvPr>
          <p:cNvSpPr/>
          <p:nvPr/>
        </p:nvSpPr>
        <p:spPr>
          <a:xfrm>
            <a:off x="3894031" y="212957"/>
            <a:ext cx="3363951" cy="1362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06C79B-5B02-6F51-84D7-C357FCC98F70}"/>
              </a:ext>
            </a:extLst>
          </p:cNvPr>
          <p:cNvSpPr/>
          <p:nvPr/>
        </p:nvSpPr>
        <p:spPr>
          <a:xfrm>
            <a:off x="3079782" y="777324"/>
            <a:ext cx="747806" cy="324705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97D948-9804-3782-A732-6E4EFABD75C6}"/>
              </a:ext>
            </a:extLst>
          </p:cNvPr>
          <p:cNvSpPr/>
          <p:nvPr/>
        </p:nvSpPr>
        <p:spPr>
          <a:xfrm>
            <a:off x="3079782" y="1158324"/>
            <a:ext cx="747806" cy="324705"/>
          </a:xfrm>
          <a:prstGeom prst="roundRect">
            <a:avLst/>
          </a:prstGeom>
          <a:noFill/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88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build="p" animBg="1"/>
      <p:bldP spid="17" grpId="0" animBg="1"/>
      <p:bldP spid="3" grpId="0" animBg="1"/>
      <p:bldP spid="3" grpId="1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B76D33B-C4BC-C753-499E-E48E430BA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3" t="67283" r="28030" b="1154"/>
          <a:stretch>
            <a:fillRect/>
          </a:stretch>
        </p:blipFill>
        <p:spPr>
          <a:xfrm>
            <a:off x="1625371" y="273247"/>
            <a:ext cx="5738207" cy="1277459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7925124" y="832596"/>
            <a:ext cx="4152151" cy="104322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spc="-1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The</a:t>
            </a:r>
            <a:r>
              <a:rPr lang="en-GB" sz="1800" b="0" strike="noStrike" spc="-1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 95% </a:t>
            </a:r>
            <a:r>
              <a:rPr lang="en-GB" sz="1800" spc="-1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confidence interval</a:t>
            </a:r>
            <a:r>
              <a:rPr lang="en-GB" sz="1800" b="0" strike="noStrike" spc="-1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 tells us how precise our estimate of the difference in </a:t>
            </a:r>
            <a:r>
              <a:rPr lang="en-GB" sz="1800" b="0" strike="noStrike" spc="-1">
                <a:solidFill>
                  <a:schemeClr val="accent3">
                    <a:lumMod val="75000"/>
                  </a:schemeClr>
                </a:solidFill>
                <a:latin typeface="Calibri"/>
              </a:rPr>
              <a:t>mean </a:t>
            </a:r>
            <a:r>
              <a:rPr lang="en-GB" sz="1800" spc="-1">
                <a:solidFill>
                  <a:schemeClr val="accent3">
                    <a:lumMod val="75000"/>
                  </a:schemeClr>
                </a:solidFill>
                <a:latin typeface="Calibri"/>
              </a:rPr>
              <a:t>beak depths is</a:t>
            </a:r>
            <a:endParaRPr lang="en-US" sz="2150">
              <a:solidFill>
                <a:schemeClr val="accent3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780883" y="4215002"/>
            <a:ext cx="11049839" cy="137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0" strike="noStrike" spc="-1" dirty="0">
                <a:solidFill>
                  <a:srgbClr val="7030A0"/>
                </a:solidFill>
                <a:latin typeface="Calibri"/>
              </a:rPr>
              <a:t>Because the 95% CI </a:t>
            </a:r>
            <a:r>
              <a:rPr lang="en-GB" sz="2000" spc="-1" dirty="0">
                <a:solidFill>
                  <a:srgbClr val="7030A0"/>
                </a:solidFill>
                <a:latin typeface="Calibri"/>
              </a:rPr>
              <a:t>does not contain zero</a:t>
            </a:r>
            <a:r>
              <a:rPr lang="en-GB" sz="2000" b="0" strike="noStrike" spc="-1" dirty="0">
                <a:solidFill>
                  <a:srgbClr val="7030A0"/>
                </a:solidFill>
                <a:latin typeface="Calibri"/>
              </a:rPr>
              <a:t>, </a:t>
            </a:r>
            <a:r>
              <a:rPr lang="en-GB" sz="2000" spc="-1" dirty="0">
                <a:solidFill>
                  <a:srgbClr val="7030A0"/>
                </a:solidFill>
                <a:latin typeface="Calibri"/>
              </a:rPr>
              <a:t>the difference is considered </a:t>
            </a:r>
            <a:r>
              <a:rPr lang="en-GB" sz="2000" spc="-1">
                <a:solidFill>
                  <a:srgbClr val="7030A0"/>
                </a:solidFill>
                <a:latin typeface="Calibri"/>
              </a:rPr>
              <a:t>"significantly" different from </a:t>
            </a:r>
            <a:r>
              <a:rPr lang="en-GB" sz="2000" b="0" strike="noStrike" spc="-1">
                <a:solidFill>
                  <a:srgbClr val="7030A0"/>
                </a:solidFill>
                <a:latin typeface="Calibri"/>
              </a:rPr>
              <a:t>zero</a:t>
            </a:r>
          </a:p>
          <a:p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GB" sz="2000" spc="-1" dirty="0">
                <a:solidFill>
                  <a:srgbClr val="000000"/>
                </a:solidFill>
                <a:latin typeface="Calibri"/>
              </a:rPr>
              <a:t>When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GB" sz="2000" b="0" i="1" strike="noStrike" spc="-1" dirty="0">
                <a:solidFill>
                  <a:srgbClr val="000000"/>
                </a:solidFill>
                <a:latin typeface="Calibri"/>
              </a:rPr>
              <a:t>p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 &gt; 0.05, the 95% CI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contains zero</a:t>
            </a:r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GB" sz="2000" spc="-1" dirty="0">
                <a:solidFill>
                  <a:srgbClr val="000000"/>
                </a:solidFill>
                <a:latin typeface="Calibri"/>
              </a:rPr>
              <a:t>When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GB" sz="2000" b="0" i="1" strike="noStrike" spc="-1" dirty="0">
                <a:solidFill>
                  <a:srgbClr val="000000"/>
                </a:solidFill>
                <a:latin typeface="Calibri"/>
              </a:rPr>
              <a:t>p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 &lt; 0.05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 the 95% CI does not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contain zero</a:t>
            </a:r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F486E2-18AB-703F-3C69-7C567E6BD8E5}"/>
              </a:ext>
            </a:extLst>
          </p:cNvPr>
          <p:cNvSpPr/>
          <p:nvPr/>
        </p:nvSpPr>
        <p:spPr>
          <a:xfrm>
            <a:off x="5819183" y="1103734"/>
            <a:ext cx="1382114" cy="434514"/>
          </a:xfrm>
          <a:custGeom>
            <a:avLst/>
            <a:gdLst>
              <a:gd name="connsiteX0" fmla="*/ 0 w 1266000"/>
              <a:gd name="connsiteY0" fmla="*/ 70001 h 420000"/>
              <a:gd name="connsiteX1" fmla="*/ 70001 w 1266000"/>
              <a:gd name="connsiteY1" fmla="*/ 0 h 420000"/>
              <a:gd name="connsiteX2" fmla="*/ 655520 w 1266000"/>
              <a:gd name="connsiteY2" fmla="*/ 0 h 420000"/>
              <a:gd name="connsiteX3" fmla="*/ 1195999 w 1266000"/>
              <a:gd name="connsiteY3" fmla="*/ 0 h 420000"/>
              <a:gd name="connsiteX4" fmla="*/ 1266000 w 1266000"/>
              <a:gd name="connsiteY4" fmla="*/ 70001 h 420000"/>
              <a:gd name="connsiteX5" fmla="*/ 1266000 w 1266000"/>
              <a:gd name="connsiteY5" fmla="*/ 349999 h 420000"/>
              <a:gd name="connsiteX6" fmla="*/ 1195999 w 1266000"/>
              <a:gd name="connsiteY6" fmla="*/ 420000 h 420000"/>
              <a:gd name="connsiteX7" fmla="*/ 666780 w 1266000"/>
              <a:gd name="connsiteY7" fmla="*/ 420000 h 420000"/>
              <a:gd name="connsiteX8" fmla="*/ 70001 w 1266000"/>
              <a:gd name="connsiteY8" fmla="*/ 420000 h 420000"/>
              <a:gd name="connsiteX9" fmla="*/ 0 w 1266000"/>
              <a:gd name="connsiteY9" fmla="*/ 349999 h 420000"/>
              <a:gd name="connsiteX10" fmla="*/ 0 w 1266000"/>
              <a:gd name="connsiteY10" fmla="*/ 70001 h 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66000" h="420000" extrusionOk="0">
                <a:moveTo>
                  <a:pt x="0" y="70001"/>
                </a:moveTo>
                <a:cubicBezTo>
                  <a:pt x="-455" y="29912"/>
                  <a:pt x="25451" y="507"/>
                  <a:pt x="70001" y="0"/>
                </a:cubicBezTo>
                <a:cubicBezTo>
                  <a:pt x="322422" y="-13448"/>
                  <a:pt x="535166" y="11886"/>
                  <a:pt x="655520" y="0"/>
                </a:cubicBezTo>
                <a:cubicBezTo>
                  <a:pt x="775874" y="-11886"/>
                  <a:pt x="1056092" y="39701"/>
                  <a:pt x="1195999" y="0"/>
                </a:cubicBezTo>
                <a:cubicBezTo>
                  <a:pt x="1227842" y="4731"/>
                  <a:pt x="1257897" y="24049"/>
                  <a:pt x="1266000" y="70001"/>
                </a:cubicBezTo>
                <a:cubicBezTo>
                  <a:pt x="1269311" y="192513"/>
                  <a:pt x="1242845" y="238452"/>
                  <a:pt x="1266000" y="349999"/>
                </a:cubicBezTo>
                <a:cubicBezTo>
                  <a:pt x="1260865" y="396072"/>
                  <a:pt x="1237263" y="429549"/>
                  <a:pt x="1195999" y="420000"/>
                </a:cubicBezTo>
                <a:cubicBezTo>
                  <a:pt x="953197" y="428333"/>
                  <a:pt x="783203" y="395456"/>
                  <a:pt x="666780" y="420000"/>
                </a:cubicBezTo>
                <a:cubicBezTo>
                  <a:pt x="550357" y="444544"/>
                  <a:pt x="265342" y="411541"/>
                  <a:pt x="70001" y="420000"/>
                </a:cubicBezTo>
                <a:cubicBezTo>
                  <a:pt x="23829" y="415399"/>
                  <a:pt x="1363" y="389060"/>
                  <a:pt x="0" y="349999"/>
                </a:cubicBezTo>
                <a:cubicBezTo>
                  <a:pt x="-686" y="229153"/>
                  <a:pt x="4041" y="202808"/>
                  <a:pt x="0" y="70001"/>
                </a:cubicBezTo>
                <a:close/>
              </a:path>
            </a:pathLst>
          </a:custGeom>
          <a:noFill/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FEA8A7-AFB2-950C-7207-01395BF06C04}"/>
              </a:ext>
            </a:extLst>
          </p:cNvPr>
          <p:cNvCxnSpPr>
            <a:cxnSpLocks/>
          </p:cNvCxnSpPr>
          <p:nvPr/>
        </p:nvCxnSpPr>
        <p:spPr>
          <a:xfrm>
            <a:off x="6515234" y="1556664"/>
            <a:ext cx="546907" cy="802668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Up 1">
            <a:extLst>
              <a:ext uri="{FF2B5EF4-FFF2-40B4-BE49-F238E27FC236}">
                <a16:creationId xmlns:a16="http://schemas.microsoft.com/office/drawing/2014/main" id="{6A41D062-B28E-AAB9-A656-5DD413F42EF1}"/>
              </a:ext>
            </a:extLst>
          </p:cNvPr>
          <p:cNvSpPr/>
          <p:nvPr/>
        </p:nvSpPr>
        <p:spPr>
          <a:xfrm>
            <a:off x="7354250" y="3063661"/>
            <a:ext cx="452243" cy="1152294"/>
          </a:xfrm>
          <a:prstGeom prst="up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0625ED-6028-62B1-CB13-1BAB005B2DF4}"/>
              </a:ext>
            </a:extLst>
          </p:cNvPr>
          <p:cNvCxnSpPr>
            <a:cxnSpLocks/>
          </p:cNvCxnSpPr>
          <p:nvPr/>
        </p:nvCxnSpPr>
        <p:spPr>
          <a:xfrm flipH="1">
            <a:off x="7163881" y="1312627"/>
            <a:ext cx="767708" cy="3296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and green background with a blue cross and a blue line&#10;&#10;AI-generated content may be incorrect.">
            <a:extLst>
              <a:ext uri="{FF2B5EF4-FFF2-40B4-BE49-F238E27FC236}">
                <a16:creationId xmlns:a16="http://schemas.microsoft.com/office/drawing/2014/main" id="{4755F1DF-EB58-DE12-0D32-5632A5791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749" y="2419965"/>
            <a:ext cx="6391275" cy="121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build="allAtOnce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A26A0-911A-2456-D092-0B9F57AD62CF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latin typeface="Calibri"/>
                <a:ea typeface="+mj-ea"/>
                <a:cs typeface="+mj-cs"/>
              </a:rPr>
              <a:t>Report the outcome of the test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493CC-5DCB-2839-EC67-536975A3E513}"/>
              </a:ext>
            </a:extLst>
          </p:cNvPr>
          <p:cNvSpPr txBox="1"/>
          <p:nvPr/>
        </p:nvSpPr>
        <p:spPr>
          <a:xfrm>
            <a:off x="5126418" y="552091"/>
            <a:ext cx="6121986" cy="54249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latin typeface="Calibri"/>
                <a:ea typeface="Calibri"/>
                <a:cs typeface="Calibri"/>
              </a:rPr>
              <a:t>"There is a statistically significant difference of 0.49 mm (95% CI [0.19, 0.80] mm) in ground finch beak depths between 1976 and 1978 (</a:t>
            </a:r>
            <a:r>
              <a:rPr lang="en-US" sz="2200" i="1" dirty="0">
                <a:latin typeface="Calibri"/>
                <a:ea typeface="Calibri"/>
                <a:cs typeface="Calibri"/>
              </a:rPr>
              <a:t>t</a:t>
            </a:r>
            <a:r>
              <a:rPr lang="en-US" sz="2200" baseline="-25000" dirty="0">
                <a:latin typeface="Calibri"/>
                <a:ea typeface="Calibri"/>
                <a:cs typeface="Calibri"/>
              </a:rPr>
              <a:t>133</a:t>
            </a:r>
            <a:r>
              <a:rPr lang="en-US" sz="2200" dirty="0">
                <a:latin typeface="Calibri"/>
                <a:ea typeface="Calibri"/>
                <a:cs typeface="Calibri"/>
              </a:rPr>
              <a:t> = 3.2, </a:t>
            </a:r>
            <a:r>
              <a:rPr lang="en-US" sz="2200" i="1" dirty="0">
                <a:latin typeface="Calibri"/>
                <a:ea typeface="Calibri"/>
                <a:cs typeface="Calibri"/>
              </a:rPr>
              <a:t>P </a:t>
            </a:r>
            <a:r>
              <a:rPr lang="en-US" sz="2200" dirty="0">
                <a:latin typeface="Calibri"/>
                <a:ea typeface="Calibri"/>
                <a:cs typeface="Calibri"/>
              </a:rPr>
              <a:t>= 0.002)."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435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232CC-4101-F17A-1396-D71261B7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C3B61E-5B29-A316-EA9C-F852FBE83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F3D8ED8-4CFE-FD7D-B511-4E1229A87EA3}"/>
              </a:ext>
            </a:extLst>
          </p:cNvPr>
          <p:cNvSpPr txBox="1"/>
          <p:nvPr/>
        </p:nvSpPr>
        <p:spPr>
          <a:xfrm>
            <a:off x="640080" y="304800"/>
            <a:ext cx="10908792" cy="1442339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dirty="0">
                <a:latin typeface="Calibri"/>
                <a:ea typeface="Calibri"/>
                <a:cs typeface="Calibri"/>
              </a:rPr>
              <a:t>Multivariable linear models</a:t>
            </a:r>
            <a:endParaRPr lang="en-US" sz="2150" dirty="0">
              <a:latin typeface="Calibri"/>
              <a:ea typeface="Calibri"/>
              <a:cs typeface="Calibri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Calibri"/>
                <a:ea typeface="Calibri"/>
                <a:cs typeface="Calibri"/>
              </a:rPr>
              <a:t>Ground and Cactus finch beak depths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08675E79-8990-8BFF-A531-0AC7A2761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ird sitting on a branch&#10;&#10;AI-generated content may be incorrect.">
            <a:extLst>
              <a:ext uri="{FF2B5EF4-FFF2-40B4-BE49-F238E27FC236}">
                <a16:creationId xmlns:a16="http://schemas.microsoft.com/office/drawing/2014/main" id="{92F990A1-6C00-7C1A-BFB9-FBE03687C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38" y="2076210"/>
            <a:ext cx="4057532" cy="2860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CDD3FF-D499-87A0-7CDF-09FC68E23641}"/>
              </a:ext>
            </a:extLst>
          </p:cNvPr>
          <p:cNvSpPr txBox="1"/>
          <p:nvPr/>
        </p:nvSpPr>
        <p:spPr>
          <a:xfrm>
            <a:off x="7486845" y="3878299"/>
            <a:ext cx="4214929" cy="10562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200" b="1" spc="-1" dirty="0">
                <a:latin typeface="Calibri"/>
              </a:rPr>
              <a:t>Did ground and </a:t>
            </a:r>
            <a:r>
              <a:rPr lang="en-US" sz="2200" b="1" i="1" spc="-1" dirty="0">
                <a:latin typeface="Calibri"/>
              </a:rPr>
              <a:t>cactus </a:t>
            </a:r>
            <a:r>
              <a:rPr lang="en-US" sz="2200" b="1" spc="-1" dirty="0">
                <a:latin typeface="Calibri"/>
              </a:rPr>
              <a:t>finch beak depths evolve during a 1977 drought and by how much?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2C2DD-2811-36BB-E537-ACBB386B9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18" y="3875672"/>
            <a:ext cx="4040606" cy="285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6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CA61A-2E20-B204-72BB-82BE016B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D0A43C-6DE0-4374-64AB-9F9CC3096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491" y="246999"/>
            <a:ext cx="8957018" cy="6364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157A04-4326-D92E-BCF5-E1F5575FEEF6}"/>
              </a:ext>
            </a:extLst>
          </p:cNvPr>
          <p:cNvSpPr txBox="1"/>
          <p:nvPr/>
        </p:nvSpPr>
        <p:spPr>
          <a:xfrm>
            <a:off x="5538976" y="1404583"/>
            <a:ext cx="51918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"species" is a categorical variable</a:t>
            </a:r>
          </a:p>
          <a:p>
            <a:endParaRPr lang="en-US" dirty="0">
              <a:latin typeface="Calibri"/>
            </a:endParaRPr>
          </a:p>
          <a:p>
            <a:r>
              <a:rPr lang="en-US" dirty="0">
                <a:latin typeface="Calibri"/>
              </a:rPr>
              <a:t>It has two levels of "Cactus finch" and "Ground finch"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6D636E-8FC1-74A0-AF3D-0DA74FC6E727}"/>
              </a:ext>
            </a:extLst>
          </p:cNvPr>
          <p:cNvCxnSpPr>
            <a:cxnSpLocks/>
          </p:cNvCxnSpPr>
          <p:nvPr/>
        </p:nvCxnSpPr>
        <p:spPr>
          <a:xfrm flipH="1" flipV="1">
            <a:off x="4541016" y="1441487"/>
            <a:ext cx="990833" cy="336851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5D087C-3381-33B2-2099-4934181C80AF}"/>
              </a:ext>
            </a:extLst>
          </p:cNvPr>
          <p:cNvSpPr txBox="1"/>
          <p:nvPr/>
        </p:nvSpPr>
        <p:spPr>
          <a:xfrm>
            <a:off x="5538989" y="3056815"/>
            <a:ext cx="502049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latin typeface="Calibri"/>
                <a:ea typeface="Calibri"/>
                <a:cs typeface="Calibri"/>
              </a:rPr>
              <a:t>One response variable: "depth"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  <a:p>
            <a:r>
              <a:rPr lang="en-GB" dirty="0">
                <a:latin typeface="Calibri"/>
                <a:ea typeface="Calibri"/>
                <a:cs typeface="Calibri"/>
              </a:rPr>
              <a:t>Two explanatory variables: "year" and "species"</a:t>
            </a:r>
          </a:p>
        </p:txBody>
      </p:sp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BBA3B66B-8B5C-CC74-CC37-AFC028A90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095" y="5615990"/>
            <a:ext cx="6483096" cy="5448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0CB97E-36E6-DDF7-1BF9-CC18E850F7A9}"/>
              </a:ext>
            </a:extLst>
          </p:cNvPr>
          <p:cNvSpPr txBox="1"/>
          <p:nvPr/>
        </p:nvSpPr>
        <p:spPr>
          <a:xfrm>
            <a:off x="5535323" y="5013745"/>
            <a:ext cx="49251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Explicitly set "year" to categorical to plot correctly</a:t>
            </a:r>
          </a:p>
        </p:txBody>
      </p:sp>
    </p:spTree>
    <p:extLst>
      <p:ext uri="{BB962C8B-B14F-4D97-AF65-F5344CB8AC3E}">
        <p14:creationId xmlns:p14="http://schemas.microsoft.com/office/powerpoint/2010/main" val="32341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4B3C3-E445-B978-A990-74287FC2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81FBF71-A330-E7B3-F0C3-51D042FF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023" y="720133"/>
            <a:ext cx="6352926" cy="52653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6C5FAA-7FD7-C40B-E57B-41FA059AD7CB}"/>
              </a:ext>
            </a:extLst>
          </p:cNvPr>
          <p:cNvSpPr txBox="1"/>
          <p:nvPr/>
        </p:nvSpPr>
        <p:spPr>
          <a:xfrm>
            <a:off x="8379133" y="1302147"/>
            <a:ext cx="32902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  <a:cs typeface="Arial"/>
              </a:rPr>
              <a:t>Ignoring "year" for now</a:t>
            </a:r>
            <a:endParaRPr lang="en-US" sz="2400">
              <a:solidFill>
                <a:srgbClr val="FFC000"/>
              </a:solidFill>
              <a:latin typeface="Calibri"/>
              <a:cs typeface="Arial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ABAF87-5A88-9E12-477E-8E7B99EE8229}"/>
              </a:ext>
            </a:extLst>
          </p:cNvPr>
          <p:cNvCxnSpPr/>
          <p:nvPr/>
        </p:nvCxnSpPr>
        <p:spPr>
          <a:xfrm>
            <a:off x="3770043" y="2791143"/>
            <a:ext cx="2613925" cy="616420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5D3C6F-0A93-B2A5-3994-B372DF575730}"/>
              </a:ext>
            </a:extLst>
          </p:cNvPr>
          <p:cNvSpPr txBox="1"/>
          <p:nvPr/>
        </p:nvSpPr>
        <p:spPr>
          <a:xfrm>
            <a:off x="3746509" y="5989521"/>
            <a:ext cx="2815653" cy="41226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spc="-1" dirty="0">
                <a:solidFill>
                  <a:srgbClr val="00B050"/>
                </a:solidFill>
                <a:latin typeface="Calibri"/>
              </a:rPr>
              <a:t>Explanatory</a:t>
            </a:r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1A861A-A428-32A7-A232-61C366E792BC}"/>
              </a:ext>
            </a:extLst>
          </p:cNvPr>
          <p:cNvSpPr txBox="1"/>
          <p:nvPr/>
        </p:nvSpPr>
        <p:spPr>
          <a:xfrm rot="16200000">
            <a:off x="-42287" y="3091511"/>
            <a:ext cx="2456001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Response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073F5-565C-8C1D-E95E-7F1BC265D77C}"/>
              </a:ext>
            </a:extLst>
          </p:cNvPr>
          <p:cNvSpPr txBox="1"/>
          <p:nvPr/>
        </p:nvSpPr>
        <p:spPr>
          <a:xfrm>
            <a:off x="8382446" y="2895720"/>
            <a:ext cx="32902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C000"/>
                </a:solidFill>
                <a:latin typeface="Calibri"/>
                <a:cs typeface="Arial"/>
              </a:rPr>
              <a:t>Cactus finch beak depths are about 1 mm longer than Ground finch beak depths on average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5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286D-7DB9-E9F4-0900-8B782014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0DEF3885-F5E9-420E-EDBF-8578A4B7D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012" y="720133"/>
            <a:ext cx="6322948" cy="526533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67E33D99-3174-611E-B72C-C38F1F9EECE9}"/>
              </a:ext>
            </a:extLst>
          </p:cNvPr>
          <p:cNvSpPr txBox="1"/>
          <p:nvPr/>
        </p:nvSpPr>
        <p:spPr>
          <a:xfrm>
            <a:off x="3746509" y="5989521"/>
            <a:ext cx="2815653" cy="41226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spc="-1" dirty="0">
                <a:solidFill>
                  <a:srgbClr val="00B050"/>
                </a:solidFill>
                <a:latin typeface="Calibri"/>
              </a:rPr>
              <a:t>Explanatory</a:t>
            </a:r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 variable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FBB4D9B-900F-BF69-9C47-3B79B0A39FA0}"/>
              </a:ext>
            </a:extLst>
          </p:cNvPr>
          <p:cNvSpPr txBox="1"/>
          <p:nvPr/>
        </p:nvSpPr>
        <p:spPr>
          <a:xfrm rot="16200000">
            <a:off x="-42287" y="3091511"/>
            <a:ext cx="2456001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Response variable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552AAA-0816-8689-C6FE-235A4EFA585E}"/>
              </a:ext>
            </a:extLst>
          </p:cNvPr>
          <p:cNvSpPr txBox="1"/>
          <p:nvPr/>
        </p:nvSpPr>
        <p:spPr>
          <a:xfrm>
            <a:off x="8403981" y="2900690"/>
            <a:ext cx="32902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C000"/>
                </a:solidFill>
                <a:latin typeface="Calibri"/>
                <a:cs typeface="Arial"/>
              </a:rPr>
              <a:t>Beak depths are about 0.5 mm longer in 1978 than in 1976   on average</a:t>
            </a: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177628E-91DE-6CBF-9E9A-F2D1EC60E027}"/>
              </a:ext>
            </a:extLst>
          </p:cNvPr>
          <p:cNvCxnSpPr/>
          <p:nvPr/>
        </p:nvCxnSpPr>
        <p:spPr>
          <a:xfrm flipV="1">
            <a:off x="3748063" y="2909334"/>
            <a:ext cx="2672539" cy="314096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ABBC5ED-3D6C-8EAB-F483-F53613BFE37B}"/>
              </a:ext>
            </a:extLst>
          </p:cNvPr>
          <p:cNvSpPr txBox="1"/>
          <p:nvPr/>
        </p:nvSpPr>
        <p:spPr>
          <a:xfrm>
            <a:off x="8379133" y="1302147"/>
            <a:ext cx="32902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  <a:cs typeface="Arial"/>
              </a:rPr>
              <a:t>Now ignoring "species"</a:t>
            </a:r>
            <a:endParaRPr lang="en-US" sz="2400" dirty="0">
              <a:solidFill>
                <a:srgbClr val="000000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880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E9E1-4C56-E50E-EC53-67299C1F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41295955-260D-9B45-31D0-759B29D9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71" t="5849" r="-112" b="-139"/>
          <a:stretch>
            <a:fillRect/>
          </a:stretch>
        </p:blipFill>
        <p:spPr>
          <a:xfrm>
            <a:off x="1378127" y="1027864"/>
            <a:ext cx="6582786" cy="49646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44653A-3577-9BDE-5B7E-C85A6D9CFDA1}"/>
              </a:ext>
            </a:extLst>
          </p:cNvPr>
          <p:cNvSpPr txBox="1"/>
          <p:nvPr/>
        </p:nvSpPr>
        <p:spPr>
          <a:xfrm>
            <a:off x="8550519" y="2805440"/>
            <a:ext cx="32902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C000"/>
                </a:solidFill>
                <a:latin typeface="Calibri"/>
                <a:cs typeface="Arial"/>
              </a:rPr>
              <a:t>The change in beak depths from 1976 to 1978 appears to be about 0.5 mm in both species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1EA8E-976C-C63E-97BC-2E4AAA05B96C}"/>
              </a:ext>
            </a:extLst>
          </p:cNvPr>
          <p:cNvSpPr txBox="1"/>
          <p:nvPr/>
        </p:nvSpPr>
        <p:spPr>
          <a:xfrm>
            <a:off x="5422909" y="4449402"/>
            <a:ext cx="3834095" cy="41226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spc="-1" dirty="0">
                <a:solidFill>
                  <a:srgbClr val="00B050"/>
                </a:solidFill>
                <a:latin typeface="Calibri"/>
              </a:rPr>
              <a:t>Second explanatory</a:t>
            </a:r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110CE-FA65-44FD-A951-CEAA145D4AE6}"/>
              </a:ext>
            </a:extLst>
          </p:cNvPr>
          <p:cNvSpPr txBox="1"/>
          <p:nvPr/>
        </p:nvSpPr>
        <p:spPr>
          <a:xfrm>
            <a:off x="3211644" y="5989521"/>
            <a:ext cx="3379826" cy="41226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spc="-1" dirty="0">
                <a:solidFill>
                  <a:srgbClr val="00B050"/>
                </a:solidFill>
                <a:latin typeface="Calibri"/>
              </a:rPr>
              <a:t>First explanatory</a:t>
            </a:r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BB2BD-6C2E-6002-12D8-312146FA2286}"/>
              </a:ext>
            </a:extLst>
          </p:cNvPr>
          <p:cNvSpPr txBox="1"/>
          <p:nvPr/>
        </p:nvSpPr>
        <p:spPr>
          <a:xfrm rot="16200000">
            <a:off x="-42287" y="3091511"/>
            <a:ext cx="2456001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strike="noStrike" spc="-1" dirty="0">
                <a:solidFill>
                  <a:srgbClr val="00B050"/>
                </a:solidFill>
                <a:latin typeface="Calibri"/>
              </a:rPr>
              <a:t>Response variable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261847-813C-CB46-60AD-1BDFE9BE9734}"/>
              </a:ext>
            </a:extLst>
          </p:cNvPr>
          <p:cNvCxnSpPr/>
          <p:nvPr/>
        </p:nvCxnSpPr>
        <p:spPr>
          <a:xfrm flipV="1">
            <a:off x="3042807" y="2837035"/>
            <a:ext cx="855905" cy="243628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021186-437E-A011-6007-262D02D96312}"/>
              </a:ext>
            </a:extLst>
          </p:cNvPr>
          <p:cNvCxnSpPr>
            <a:cxnSpLocks/>
          </p:cNvCxnSpPr>
          <p:nvPr/>
        </p:nvCxnSpPr>
        <p:spPr>
          <a:xfrm flipV="1">
            <a:off x="5533962" y="3445168"/>
            <a:ext cx="958482" cy="228974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3BE0B8F-2028-B38E-6403-C4784BCD7A45}"/>
              </a:ext>
            </a:extLst>
          </p:cNvPr>
          <p:cNvSpPr txBox="1"/>
          <p:nvPr/>
        </p:nvSpPr>
        <p:spPr>
          <a:xfrm>
            <a:off x="8379133" y="1302147"/>
            <a:ext cx="38286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  <a:cs typeface="Arial"/>
              </a:rPr>
              <a:t>Include "year" and  "species"</a:t>
            </a:r>
            <a:endParaRPr lang="en-US" sz="2400" dirty="0">
              <a:solidFill>
                <a:srgbClr val="000000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263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7" grpId="1"/>
      <p:bldP spid="4" grpId="0"/>
      <p:bldP spid="4" grpId="1"/>
      <p:bldP spid="8" grpId="0"/>
      <p:bldP spid="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46954-9548-8F58-935E-DDCFD089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3E9FCF23-551A-47E1-60F8-5E8BAA6D0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74297C4-7DEF-E4DC-3857-D483974C7028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0" strike="noStrike" kern="1200" spc="-1" dirty="0">
                <a:latin typeface="Calibri"/>
                <a:ea typeface="+mj-ea"/>
                <a:cs typeface="+mj-cs"/>
              </a:rPr>
              <a:t>How we do this on the computer:</a:t>
            </a:r>
            <a:r>
              <a:rPr lang="en-US" sz="4100" spc="-1" dirty="0">
                <a:latin typeface="Calibri"/>
                <a:ea typeface="+mj-ea"/>
                <a:cs typeface="+mj-cs"/>
              </a:rPr>
              <a:t> </a:t>
            </a:r>
            <a:endParaRPr lang="en-US" sz="2150">
              <a:latin typeface="Calibri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spc="-1" dirty="0">
                <a:latin typeface="Calibri"/>
                <a:ea typeface="+mj-ea"/>
                <a:cs typeface="+mj-cs"/>
              </a:rPr>
              <a:t>Modelling</a:t>
            </a:r>
            <a:r>
              <a:rPr lang="en-US" sz="4100" b="0" strike="noStrike" kern="1200" spc="-1" dirty="0">
                <a:latin typeface="Calibri"/>
                <a:ea typeface="+mj-ea"/>
                <a:cs typeface="+mj-cs"/>
              </a:rPr>
              <a:t> the data</a:t>
            </a:r>
            <a:endParaRPr lang="en-US" sz="2150">
              <a:latin typeface="Calibri"/>
            </a:endParaRPr>
          </a:p>
        </p:txBody>
      </p:sp>
      <p:sp>
        <p:nvSpPr>
          <p:cNvPr id="137" name="sketch line">
            <a:extLst>
              <a:ext uri="{FF2B5EF4-FFF2-40B4-BE49-F238E27FC236}">
                <a16:creationId xmlns:a16="http://schemas.microsoft.com/office/drawing/2014/main" id="{42069E65-8FA2-4B41-102B-AB27E3867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0F4AD8E-2231-B538-349C-40EE59FED306}"/>
              </a:ext>
            </a:extLst>
          </p:cNvPr>
          <p:cNvSpPr txBox="1"/>
          <p:nvPr/>
        </p:nvSpPr>
        <p:spPr>
          <a:xfrm>
            <a:off x="1221776" y="2923785"/>
            <a:ext cx="4497467" cy="101012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406">
              <a:spcAft>
                <a:spcPts val="600"/>
              </a:spcAft>
            </a:pP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 model tells us how the response and explanatory variables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are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related</a:t>
            </a:r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2F1238-0DF2-AE22-A65A-5E46DE5AFBC5}"/>
              </a:ext>
            </a:extLst>
          </p:cNvPr>
          <p:cNvSpPr txBox="1"/>
          <p:nvPr/>
        </p:nvSpPr>
        <p:spPr>
          <a:xfrm>
            <a:off x="1355264" y="6020815"/>
            <a:ext cx="7591803" cy="61266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406">
              <a:spcAft>
                <a:spcPts val="600"/>
              </a:spcAft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Model formula:</a:t>
            </a:r>
            <a:r>
              <a:rPr lang="en-GB" sz="2400" spc="-1" dirty="0">
                <a:solidFill>
                  <a:srgbClr val="000000"/>
                </a:solidFill>
                <a:latin typeface="Andale Mono"/>
              </a:rPr>
              <a:t>  </a:t>
            </a:r>
            <a:r>
              <a:rPr lang="en-GB" sz="2400" spc="-1" dirty="0">
                <a:solidFill>
                  <a:srgbClr val="000000"/>
                </a:solidFill>
                <a:latin typeface="Consolas"/>
              </a:rPr>
              <a:t>depth</a:t>
            </a:r>
            <a:r>
              <a:rPr lang="en-GB" sz="2400" kern="1200" spc="-1" dirty="0"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 </a:t>
            </a:r>
            <a:r>
              <a:rPr lang="en-GB" sz="2400" b="1" kern="1200" spc="-1" dirty="0"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~</a:t>
            </a:r>
            <a:r>
              <a:rPr lang="en-GB" sz="2400" kern="1200" spc="-1" dirty="0"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 </a:t>
            </a:r>
            <a:r>
              <a:rPr lang="en-GB" sz="2400" spc="-1" dirty="0">
                <a:solidFill>
                  <a:srgbClr val="000000"/>
                </a:solidFill>
                <a:latin typeface="Consolas"/>
              </a:rPr>
              <a:t>C(year) + species</a:t>
            </a:r>
            <a:endParaRPr lang="en-GB" sz="2400" b="0" strike="noStrike" spc="-1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DE560D5-C972-80B9-EECC-60404676DCC7}"/>
              </a:ext>
            </a:extLst>
          </p:cNvPr>
          <p:cNvSpPr txBox="1"/>
          <p:nvPr/>
        </p:nvSpPr>
        <p:spPr>
          <a:xfrm>
            <a:off x="492030" y="5486811"/>
            <a:ext cx="11215200" cy="3101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9406">
              <a:spcAft>
                <a:spcPts val="600"/>
              </a:spcAft>
            </a:pP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“Mean </a:t>
            </a:r>
            <a:r>
              <a:rPr lang="en-GB" sz="2000" b="1" spc="-1" dirty="0">
                <a:solidFill>
                  <a:srgbClr val="000000"/>
                </a:solidFill>
                <a:latin typeface="Calibri"/>
              </a:rPr>
              <a:t>beak</a:t>
            </a:r>
            <a:r>
              <a:rPr lang="en-GB" sz="2000" b="1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GB" sz="2000" b="1" spc="-1" dirty="0">
                <a:solidFill>
                  <a:srgbClr val="000000"/>
                </a:solidFill>
                <a:latin typeface="Calibri"/>
              </a:rPr>
              <a:t>depth 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of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finches </a:t>
            </a:r>
            <a:r>
              <a:rPr lang="en-GB" sz="2000" b="1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is related to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the </a:t>
            </a:r>
            <a:r>
              <a:rPr lang="en-GB" sz="2000" b="1" spc="-1" dirty="0">
                <a:solidFill>
                  <a:srgbClr val="000000"/>
                </a:solidFill>
                <a:latin typeface="Calibri"/>
              </a:rPr>
              <a:t>year</a:t>
            </a:r>
            <a:r>
              <a:rPr lang="en-GB" sz="2000" b="1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they were measured and the </a:t>
            </a:r>
            <a:r>
              <a:rPr lang="en-GB" sz="2000" b="1" spc="-1" dirty="0">
                <a:solidFill>
                  <a:srgbClr val="000000"/>
                </a:solidFill>
                <a:latin typeface="Calibri"/>
              </a:rPr>
              <a:t>species</a:t>
            </a:r>
            <a:r>
              <a:rPr lang="en-GB" sz="2000" kern="1200" spc="-1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”</a:t>
            </a:r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102ED-0605-12E8-4272-7961D326D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624" y="2196251"/>
            <a:ext cx="3716468" cy="288641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898A5B-0EEB-692B-160A-52325A353AA8}"/>
              </a:ext>
            </a:extLst>
          </p:cNvPr>
          <p:cNvCxnSpPr/>
          <p:nvPr/>
        </p:nvCxnSpPr>
        <p:spPr>
          <a:xfrm>
            <a:off x="5013862" y="4878979"/>
            <a:ext cx="921677" cy="12470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1A9F0EF-BB05-7E5F-8CE2-021909E8392F}"/>
              </a:ext>
            </a:extLst>
          </p:cNvPr>
          <p:cNvSpPr txBox="1"/>
          <p:nvPr/>
        </p:nvSpPr>
        <p:spPr>
          <a:xfrm>
            <a:off x="3457514" y="4362876"/>
            <a:ext cx="3083337" cy="584775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+ means "and"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9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9" grpId="0"/>
      <p:bldP spid="130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F1BC1-68F9-F8D9-32CE-62C25106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16BD6C-CB03-7176-52BC-0DD7BB717772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spc="-1" dirty="0">
                <a:latin typeface="Calibri"/>
                <a:ea typeface="+mj-ea"/>
                <a:cs typeface="+mj-cs"/>
              </a:rPr>
              <a:t>Reference levels</a:t>
            </a:r>
            <a:endParaRPr lang="en-US" dirty="0"/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5AB720C9-611A-C487-11D9-B5F7CBAA9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12B18D-8905-360E-A3DB-FD07EF124BFD}"/>
              </a:ext>
            </a:extLst>
          </p:cNvPr>
          <p:cNvSpPr txBox="1"/>
          <p:nvPr/>
        </p:nvSpPr>
        <p:spPr>
          <a:xfrm>
            <a:off x="648039" y="2210070"/>
            <a:ext cx="57465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latin typeface="Calibri"/>
                <a:ea typeface="Calibri"/>
                <a:cs typeface="Calibri"/>
              </a:rPr>
              <a:t>Each explanatory categorical variable has a reference level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  <a:p>
            <a:r>
              <a:rPr lang="en-GB" dirty="0">
                <a:latin typeface="Calibri"/>
                <a:ea typeface="Calibri"/>
                <a:cs typeface="Calibri"/>
              </a:rPr>
              <a:t>By default this is the first alphabetically or numerically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644257-4B15-3085-3ECA-44696A50C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841073"/>
              </p:ext>
            </p:extLst>
          </p:nvPr>
        </p:nvGraphicFramePr>
        <p:xfrm>
          <a:off x="638895" y="3629137"/>
          <a:ext cx="521848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958">
                  <a:extLst>
                    <a:ext uri="{9D8B030D-6E8A-4147-A177-3AD203B41FA5}">
                      <a16:colId xmlns:a16="http://schemas.microsoft.com/office/drawing/2014/main" val="1971817657"/>
                    </a:ext>
                  </a:extLst>
                </a:gridCol>
                <a:gridCol w="1899932">
                  <a:extLst>
                    <a:ext uri="{9D8B030D-6E8A-4147-A177-3AD203B41FA5}">
                      <a16:colId xmlns:a16="http://schemas.microsoft.com/office/drawing/2014/main" val="1273768264"/>
                    </a:ext>
                  </a:extLst>
                </a:gridCol>
                <a:gridCol w="2140591">
                  <a:extLst>
                    <a:ext uri="{9D8B030D-6E8A-4147-A177-3AD203B41FA5}">
                      <a16:colId xmlns:a16="http://schemas.microsoft.com/office/drawing/2014/main" val="2699683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Reference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Comparison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420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1976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1978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86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Cactus finch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/>
                          <a:ea typeface="Calibri"/>
                          <a:cs typeface="Calibri"/>
                        </a:rPr>
                        <a:t>Ground finch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84695"/>
                  </a:ext>
                </a:extLst>
              </a:tr>
            </a:tbl>
          </a:graphicData>
        </a:graphic>
      </p:graphicFrame>
      <p:pic>
        <p:nvPicPr>
          <p:cNvPr id="7" name="Picture 6" descr="A diagram of different species&#10;&#10;AI-generated content may be incorrect.">
            <a:extLst>
              <a:ext uri="{FF2B5EF4-FFF2-40B4-BE49-F238E27FC236}">
                <a16:creationId xmlns:a16="http://schemas.microsoft.com/office/drawing/2014/main" id="{8788F637-6959-1A68-E8B1-E4786EF55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856" y="2694482"/>
            <a:ext cx="4581044" cy="36191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9FEA63-554C-F9F7-9682-5D77C9E66C83}"/>
              </a:ext>
            </a:extLst>
          </p:cNvPr>
          <p:cNvSpPr txBox="1"/>
          <p:nvPr/>
        </p:nvSpPr>
        <p:spPr>
          <a:xfrm>
            <a:off x="2971629" y="5492531"/>
            <a:ext cx="3241987" cy="64633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latin typeface="Calibri"/>
                <a:ea typeface="Calibri"/>
                <a:cs typeface="Calibri"/>
              </a:rPr>
              <a:t>Reference: everything else is compared to 1976, Cactus finch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F478CC-DD30-BA92-A2B0-E394B4D22549}"/>
              </a:ext>
            </a:extLst>
          </p:cNvPr>
          <p:cNvCxnSpPr/>
          <p:nvPr/>
        </p:nvCxnSpPr>
        <p:spPr>
          <a:xfrm flipV="1">
            <a:off x="6222804" y="4074457"/>
            <a:ext cx="1419908" cy="14273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17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7148-4756-7653-B38C-754A55AE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334DD3-9BFF-14BB-1B77-301976315E7B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spc="-1" dirty="0">
                <a:latin typeface="Calibri"/>
                <a:ea typeface="+mj-ea"/>
                <a:cs typeface="+mj-cs"/>
              </a:rPr>
              <a:t>Modelling</a:t>
            </a:r>
            <a:r>
              <a:rPr lang="en-US" sz="4100" b="0" strike="noStrike" kern="1200" spc="-1" dirty="0">
                <a:latin typeface="Calibri"/>
                <a:ea typeface="+mj-ea"/>
                <a:cs typeface="+mj-cs"/>
              </a:rPr>
              <a:t> the data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D24D04CE-F244-69FB-5F5F-971196818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lose up of a computer code&#10;&#10;AI-generated content may be incorrect.">
            <a:extLst>
              <a:ext uri="{FF2B5EF4-FFF2-40B4-BE49-F238E27FC236}">
                <a16:creationId xmlns:a16="http://schemas.microsoft.com/office/drawing/2014/main" id="{0B9A1E02-E8E9-4805-859C-3F8259864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2171334"/>
            <a:ext cx="7581900" cy="1533525"/>
          </a:xfrm>
          <a:prstGeom prst="rect">
            <a:avLst/>
          </a:prstGeom>
        </p:spPr>
      </p:pic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0C8508C0-F7B0-BD0D-2B87-0ED0151F2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32" y="4152946"/>
            <a:ext cx="9891814" cy="251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8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D114AF45-2720-F9AD-F390-9743AE8F5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16" y="1848395"/>
            <a:ext cx="6645520" cy="1689589"/>
          </a:xfrm>
          <a:prstGeom prst="rect">
            <a:avLst/>
          </a:prstGeom>
        </p:spPr>
      </p:pic>
      <p:pic>
        <p:nvPicPr>
          <p:cNvPr id="4" name="Picture 3" descr="A diagram of different species&#10;&#10;AI-generated content may be incorrect.">
            <a:extLst>
              <a:ext uri="{FF2B5EF4-FFF2-40B4-BE49-F238E27FC236}">
                <a16:creationId xmlns:a16="http://schemas.microsoft.com/office/drawing/2014/main" id="{A7F3774B-53A2-9F24-2165-8EC8803AE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856" y="2694482"/>
            <a:ext cx="4581044" cy="36191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F1EA23-6046-2C20-A7EA-D389485C0F9B}"/>
              </a:ext>
            </a:extLst>
          </p:cNvPr>
          <p:cNvSpPr/>
          <p:nvPr/>
        </p:nvSpPr>
        <p:spPr>
          <a:xfrm>
            <a:off x="235901" y="2697020"/>
            <a:ext cx="6637010" cy="1691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FBA2F5-3F01-26E9-0EAC-F01F816219CE}"/>
              </a:ext>
            </a:extLst>
          </p:cNvPr>
          <p:cNvCxnSpPr/>
          <p:nvPr/>
        </p:nvCxnSpPr>
        <p:spPr>
          <a:xfrm>
            <a:off x="3887112" y="2491110"/>
            <a:ext cx="3717345" cy="148425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1F971A-E4AF-AFDA-6BBD-9F0CA6674FCC}"/>
              </a:ext>
            </a:extLst>
          </p:cNvPr>
          <p:cNvSpPr/>
          <p:nvPr/>
        </p:nvSpPr>
        <p:spPr>
          <a:xfrm>
            <a:off x="2412233" y="2283518"/>
            <a:ext cx="1464160" cy="320082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760563E1-8DB3-3959-8826-34B5177AA130}"/>
              </a:ext>
            </a:extLst>
          </p:cNvPr>
          <p:cNvSpPr txBox="1"/>
          <p:nvPr/>
        </p:nvSpPr>
        <p:spPr>
          <a:xfrm>
            <a:off x="7467339" y="823885"/>
            <a:ext cx="415873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alibri"/>
              </a:rPr>
              <a:t>Reference is the </a:t>
            </a:r>
            <a:r>
              <a:rPr lang="en-US" i="1" dirty="0">
                <a:cs typeface="Calibri"/>
              </a:rPr>
              <a:t>Intercept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Everything else is compared to this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AAE95A1-9BC0-B6FF-D7B2-B21F48A159D3}"/>
              </a:ext>
            </a:extLst>
          </p:cNvPr>
          <p:cNvSpPr txBox="1"/>
          <p:nvPr/>
        </p:nvSpPr>
        <p:spPr>
          <a:xfrm>
            <a:off x="7467339" y="1718407"/>
            <a:ext cx="415873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Mean cactus finch beak depth in 1976 </a:t>
            </a:r>
            <a:r>
              <a:rPr lang="en-US" dirty="0">
                <a:cs typeface="Calibri"/>
              </a:rPr>
              <a:t>was 10.5 ± 0.09 mm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5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AE524-EE60-2516-06D7-CE12B81B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CFB31D36-C088-AC02-719E-03CADD8A7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16" y="1848395"/>
            <a:ext cx="6645520" cy="1689589"/>
          </a:xfrm>
          <a:prstGeom prst="rect">
            <a:avLst/>
          </a:prstGeom>
        </p:spPr>
      </p:pic>
      <p:pic>
        <p:nvPicPr>
          <p:cNvPr id="4" name="Picture 3" descr="A diagram of different species&#10;&#10;AI-generated content may be incorrect.">
            <a:extLst>
              <a:ext uri="{FF2B5EF4-FFF2-40B4-BE49-F238E27FC236}">
                <a16:creationId xmlns:a16="http://schemas.microsoft.com/office/drawing/2014/main" id="{92C89A9A-8DAB-957C-B554-A378FFDE7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856" y="2694482"/>
            <a:ext cx="4581044" cy="36191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3920EF-BDDD-AAEA-1D95-591F9753D1E9}"/>
              </a:ext>
            </a:extLst>
          </p:cNvPr>
          <p:cNvSpPr/>
          <p:nvPr/>
        </p:nvSpPr>
        <p:spPr>
          <a:xfrm>
            <a:off x="235901" y="3107328"/>
            <a:ext cx="6637010" cy="1691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8B6543-3A98-CE55-3841-493EBF70BCD5}"/>
              </a:ext>
            </a:extLst>
          </p:cNvPr>
          <p:cNvCxnSpPr/>
          <p:nvPr/>
        </p:nvCxnSpPr>
        <p:spPr>
          <a:xfrm>
            <a:off x="3911960" y="2885807"/>
            <a:ext cx="4461824" cy="83120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C72F27-EF75-69E7-9206-9BA0D6CEE50E}"/>
              </a:ext>
            </a:extLst>
          </p:cNvPr>
          <p:cNvSpPr/>
          <p:nvPr/>
        </p:nvSpPr>
        <p:spPr>
          <a:xfrm>
            <a:off x="2412233" y="2737149"/>
            <a:ext cx="1472443" cy="26210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DDBA899F-E6AE-77D9-6CDC-B720A3D66281}"/>
              </a:ext>
            </a:extLst>
          </p:cNvPr>
          <p:cNvSpPr txBox="1"/>
          <p:nvPr/>
        </p:nvSpPr>
        <p:spPr>
          <a:xfrm>
            <a:off x="7782078" y="616820"/>
            <a:ext cx="415873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alibri"/>
              </a:rPr>
              <a:t>Difference between 1976 and 1978 is  0.49 ± 0.11 mm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13475-BBDF-10E5-3012-4887DCEB80F1}"/>
              </a:ext>
            </a:extLst>
          </p:cNvPr>
          <p:cNvSpPr/>
          <p:nvPr/>
        </p:nvSpPr>
        <p:spPr>
          <a:xfrm>
            <a:off x="243228" y="2308691"/>
            <a:ext cx="6644336" cy="38691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9733E5-35E1-6643-93C6-6C3810088E35}"/>
              </a:ext>
            </a:extLst>
          </p:cNvPr>
          <p:cNvCxnSpPr/>
          <p:nvPr/>
        </p:nvCxnSpPr>
        <p:spPr>
          <a:xfrm flipV="1">
            <a:off x="8105713" y="3789535"/>
            <a:ext cx="789963" cy="228974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4">
            <a:extLst>
              <a:ext uri="{FF2B5EF4-FFF2-40B4-BE49-F238E27FC236}">
                <a16:creationId xmlns:a16="http://schemas.microsoft.com/office/drawing/2014/main" id="{14E04842-7F27-C3E3-C191-AD015A93A951}"/>
              </a:ext>
            </a:extLst>
          </p:cNvPr>
          <p:cNvSpPr txBox="1"/>
          <p:nvPr/>
        </p:nvSpPr>
        <p:spPr>
          <a:xfrm>
            <a:off x="7782078" y="1393473"/>
            <a:ext cx="415873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Significantly different from zero</a:t>
            </a:r>
          </a:p>
          <a:p>
            <a:r>
              <a:rPr lang="en-US" i="1" dirty="0">
                <a:cs typeface="Calibri"/>
              </a:rPr>
              <a:t>P </a:t>
            </a:r>
            <a:r>
              <a:rPr lang="en-US" dirty="0">
                <a:cs typeface="Calibri"/>
              </a:rPr>
              <a:t> = 1.8 x 10</a:t>
            </a:r>
            <a:r>
              <a:rPr lang="en-US" baseline="30000" dirty="0">
                <a:cs typeface="Calibri"/>
              </a:rPr>
              <a:t>-5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3E52B0-DB67-8C4D-1583-43099F6AFFA2}"/>
              </a:ext>
            </a:extLst>
          </p:cNvPr>
          <p:cNvSpPr/>
          <p:nvPr/>
        </p:nvSpPr>
        <p:spPr>
          <a:xfrm>
            <a:off x="4712886" y="2711346"/>
            <a:ext cx="701842" cy="28790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A2D41C-47A9-ED3D-4B89-BE1C2982D7E3}"/>
              </a:ext>
            </a:extLst>
          </p:cNvPr>
          <p:cNvCxnSpPr>
            <a:cxnSpLocks/>
          </p:cNvCxnSpPr>
          <p:nvPr/>
        </p:nvCxnSpPr>
        <p:spPr>
          <a:xfrm flipV="1">
            <a:off x="5407926" y="1728550"/>
            <a:ext cx="2382254" cy="114292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8F4F95E-3ACB-16C2-EEF1-10B6DED1D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04" y="4505325"/>
            <a:ext cx="5860806" cy="14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3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/>
      <p:bldP spid="9" grpId="0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EC55-6218-20DC-C373-7382D9AB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F4AB5A3E-F971-AB8D-CF0B-71C707209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16" y="1848395"/>
            <a:ext cx="6645520" cy="1689589"/>
          </a:xfrm>
          <a:prstGeom prst="rect">
            <a:avLst/>
          </a:prstGeom>
        </p:spPr>
      </p:pic>
      <p:pic>
        <p:nvPicPr>
          <p:cNvPr id="4" name="Picture 3" descr="A diagram of different species&#10;&#10;AI-generated content may be incorrect.">
            <a:extLst>
              <a:ext uri="{FF2B5EF4-FFF2-40B4-BE49-F238E27FC236}">
                <a16:creationId xmlns:a16="http://schemas.microsoft.com/office/drawing/2014/main" id="{6EF34D12-4DCB-C7A7-0B89-995FCA1FB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856" y="2694482"/>
            <a:ext cx="4581044" cy="361910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805DDB-92A3-D1D0-C69E-D794BC285605}"/>
              </a:ext>
            </a:extLst>
          </p:cNvPr>
          <p:cNvCxnSpPr/>
          <p:nvPr/>
        </p:nvCxnSpPr>
        <p:spPr>
          <a:xfrm>
            <a:off x="3150917" y="3284602"/>
            <a:ext cx="5936099" cy="97686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56228-EB5B-AE08-D366-9FB50C85392A}"/>
              </a:ext>
            </a:extLst>
          </p:cNvPr>
          <p:cNvSpPr/>
          <p:nvPr/>
        </p:nvSpPr>
        <p:spPr>
          <a:xfrm>
            <a:off x="2412233" y="3124521"/>
            <a:ext cx="735291" cy="27038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A0E44C2B-ACE0-360F-F7FA-30C2E078EAD9}"/>
              </a:ext>
            </a:extLst>
          </p:cNvPr>
          <p:cNvSpPr txBox="1"/>
          <p:nvPr/>
        </p:nvSpPr>
        <p:spPr>
          <a:xfrm>
            <a:off x="7790360" y="616820"/>
            <a:ext cx="428297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alibri"/>
              </a:rPr>
              <a:t>Difference between Cactus and Ground finches in 1976 is 1.01 ± 0.11 mm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FE1833-9949-E6F3-64D5-CBE602D03398}"/>
              </a:ext>
            </a:extLst>
          </p:cNvPr>
          <p:cNvSpPr/>
          <p:nvPr/>
        </p:nvSpPr>
        <p:spPr>
          <a:xfrm>
            <a:off x="243228" y="2308691"/>
            <a:ext cx="6644336" cy="709998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AA321C-36DD-A521-994D-53A1854646CF}"/>
              </a:ext>
            </a:extLst>
          </p:cNvPr>
          <p:cNvCxnSpPr/>
          <p:nvPr/>
        </p:nvCxnSpPr>
        <p:spPr>
          <a:xfrm>
            <a:off x="8105713" y="4042893"/>
            <a:ext cx="1978683" cy="447682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4">
            <a:extLst>
              <a:ext uri="{FF2B5EF4-FFF2-40B4-BE49-F238E27FC236}">
                <a16:creationId xmlns:a16="http://schemas.microsoft.com/office/drawing/2014/main" id="{772EA9B5-E03E-1766-A655-E8424EB7D6A2}"/>
              </a:ext>
            </a:extLst>
          </p:cNvPr>
          <p:cNvSpPr txBox="1"/>
          <p:nvPr/>
        </p:nvSpPr>
        <p:spPr>
          <a:xfrm>
            <a:off x="7782078" y="1393473"/>
            <a:ext cx="415873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Significantly different from zero</a:t>
            </a:r>
          </a:p>
          <a:p>
            <a:r>
              <a:rPr lang="en-US" i="1" dirty="0">
                <a:cs typeface="Calibri"/>
              </a:rPr>
              <a:t>P </a:t>
            </a:r>
            <a:r>
              <a:rPr lang="en-US" dirty="0">
                <a:cs typeface="Calibri"/>
              </a:rPr>
              <a:t> = 1.4 x 10</a:t>
            </a:r>
            <a:r>
              <a:rPr lang="en-US" baseline="30000" dirty="0">
                <a:cs typeface="Calibri"/>
              </a:rPr>
              <a:t>-17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005496-3EF9-9238-9F29-F6CFF35AE422}"/>
              </a:ext>
            </a:extLst>
          </p:cNvPr>
          <p:cNvSpPr/>
          <p:nvPr/>
        </p:nvSpPr>
        <p:spPr>
          <a:xfrm>
            <a:off x="4712886" y="3133758"/>
            <a:ext cx="660429" cy="25477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CB4765-05D9-BB03-C549-34EFB01CD7FC}"/>
              </a:ext>
            </a:extLst>
          </p:cNvPr>
          <p:cNvCxnSpPr>
            <a:cxnSpLocks/>
          </p:cNvCxnSpPr>
          <p:nvPr/>
        </p:nvCxnSpPr>
        <p:spPr>
          <a:xfrm flipV="1">
            <a:off x="5393591" y="1780157"/>
            <a:ext cx="2377476" cy="142198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28ED26E-C651-1D5B-1AD4-E2C517984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04" y="4505325"/>
            <a:ext cx="5860806" cy="14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9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/>
      <p:bldP spid="9" grpId="0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CFB09-35FF-B496-8C50-425C9C8E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15784-3BDA-D57A-D047-765FB6C91E52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spc="-1" dirty="0">
                <a:latin typeface="Calibri"/>
                <a:ea typeface="+mj-ea"/>
                <a:cs typeface="+mj-cs"/>
              </a:rPr>
              <a:t>Interactions between variables</a:t>
            </a:r>
            <a:endParaRPr lang="en-US" dirty="0"/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9F53747B-A3C7-A062-8290-EA73CDC29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different species&#10;&#10;AI-generated content may be incorrect.">
            <a:extLst>
              <a:ext uri="{FF2B5EF4-FFF2-40B4-BE49-F238E27FC236}">
                <a16:creationId xmlns:a16="http://schemas.microsoft.com/office/drawing/2014/main" id="{DAB0BDC0-9371-18AD-73E1-D0213EF35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08" y="2349744"/>
            <a:ext cx="5272454" cy="3982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98C109-01CA-02B8-CE3F-3F4880EC4786}"/>
              </a:ext>
            </a:extLst>
          </p:cNvPr>
          <p:cNvSpPr txBox="1"/>
          <p:nvPr/>
        </p:nvSpPr>
        <p:spPr>
          <a:xfrm>
            <a:off x="7021287" y="2080935"/>
            <a:ext cx="453785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latin typeface="Calibri"/>
                <a:ea typeface="Calibri"/>
                <a:cs typeface="Calibri"/>
              </a:rPr>
              <a:t>Did the increase in beak depths differ between species?</a:t>
            </a:r>
          </a:p>
          <a:p>
            <a:endParaRPr lang="en-GB" sz="2400" dirty="0">
              <a:latin typeface="Calibri"/>
              <a:ea typeface="Calibri"/>
              <a:cs typeface="Calibri"/>
            </a:endParaRPr>
          </a:p>
          <a:p>
            <a:r>
              <a:rPr lang="en-GB" sz="2400" dirty="0">
                <a:ea typeface="+mn-lt"/>
                <a:cs typeface="+mn-lt"/>
              </a:rPr>
              <a:t>We have assumed that beak depths increased equally for both species from 1976 to 1978</a:t>
            </a:r>
          </a:p>
          <a:p>
            <a:endParaRPr lang="en-GB" sz="2400" dirty="0">
              <a:cs typeface="Arial"/>
            </a:endParaRPr>
          </a:p>
          <a:p>
            <a:r>
              <a:rPr lang="en-GB" sz="2400" dirty="0">
                <a:cs typeface="Arial"/>
              </a:rPr>
              <a:t>If this assumption is not true then there is an </a:t>
            </a:r>
            <a:r>
              <a:rPr lang="en-GB" sz="2400" b="1" dirty="0">
                <a:cs typeface="Arial"/>
              </a:rPr>
              <a:t>interaction between year and species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F5C656-0AF6-84F3-116B-B1F6F005C24B}"/>
              </a:ext>
            </a:extLst>
          </p:cNvPr>
          <p:cNvCxnSpPr/>
          <p:nvPr/>
        </p:nvCxnSpPr>
        <p:spPr>
          <a:xfrm flipV="1">
            <a:off x="2017039" y="3584381"/>
            <a:ext cx="789963" cy="228974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67714F-3E18-CF28-AC67-28891B983A82}"/>
              </a:ext>
            </a:extLst>
          </p:cNvPr>
          <p:cNvCxnSpPr>
            <a:cxnSpLocks/>
          </p:cNvCxnSpPr>
          <p:nvPr/>
        </p:nvCxnSpPr>
        <p:spPr>
          <a:xfrm flipV="1">
            <a:off x="4361654" y="4075284"/>
            <a:ext cx="789963" cy="228974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27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F168A-40AA-60CD-71C5-B987F43A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F4B4CB6-982D-E769-5B71-853BC95A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1894738"/>
            <a:ext cx="7581900" cy="10609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224F9-0703-45DE-8BE8-20F7FE60F92E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spc="-1" dirty="0">
                <a:latin typeface="Calibri"/>
                <a:ea typeface="+mj-ea"/>
                <a:cs typeface="+mj-cs"/>
              </a:rPr>
              <a:t>Modelling</a:t>
            </a:r>
            <a:r>
              <a:rPr lang="en-US" sz="4100" b="0" strike="noStrike" kern="1200" spc="-1" dirty="0">
                <a:latin typeface="Calibri"/>
                <a:ea typeface="+mj-ea"/>
                <a:cs typeface="+mj-cs"/>
              </a:rPr>
              <a:t> the data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21E81950-B9F5-E08D-D3CF-54669BE9F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table&#10;&#10;AI-generated content may be incorrect.">
            <a:extLst>
              <a:ext uri="{FF2B5EF4-FFF2-40B4-BE49-F238E27FC236}">
                <a16:creationId xmlns:a16="http://schemas.microsoft.com/office/drawing/2014/main" id="{9C5A601C-4E15-1A23-61D0-B3469884E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141" y="3039254"/>
            <a:ext cx="8436343" cy="223334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EB5263-5A0A-FDB4-79B7-928F1FF1C498}"/>
              </a:ext>
            </a:extLst>
          </p:cNvPr>
          <p:cNvSpPr/>
          <p:nvPr/>
        </p:nvSpPr>
        <p:spPr>
          <a:xfrm>
            <a:off x="7336366" y="1883108"/>
            <a:ext cx="2548025" cy="43184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1C6E00-2739-948D-BC8C-CDBFE5D4D8A5}"/>
              </a:ext>
            </a:extLst>
          </p:cNvPr>
          <p:cNvSpPr/>
          <p:nvPr/>
        </p:nvSpPr>
        <p:spPr>
          <a:xfrm>
            <a:off x="1202118" y="3507025"/>
            <a:ext cx="9926064" cy="1255247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F33623-1E62-46FB-D608-A5D0FBE70572}"/>
              </a:ext>
            </a:extLst>
          </p:cNvPr>
          <p:cNvSpPr/>
          <p:nvPr/>
        </p:nvSpPr>
        <p:spPr>
          <a:xfrm>
            <a:off x="7973809" y="4762587"/>
            <a:ext cx="804217" cy="43184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5800D0-6419-27CD-A84D-2AB10C588CFC}"/>
              </a:ext>
            </a:extLst>
          </p:cNvPr>
          <p:cNvSpPr txBox="1"/>
          <p:nvPr/>
        </p:nvSpPr>
        <p:spPr>
          <a:xfrm>
            <a:off x="851323" y="5502746"/>
            <a:ext cx="111034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i="1" dirty="0"/>
              <a:t>P</a:t>
            </a:r>
            <a:r>
              <a:rPr lang="en-GB" dirty="0"/>
              <a:t> = 0.94, data are compatible with the null hypothesis of no interaction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GB" dirty="0"/>
              <a:t>beak depth change was the same for both species</a:t>
            </a:r>
          </a:p>
          <a:p>
            <a:pPr marL="742950" lvl="1" indent="-285750">
              <a:buFont typeface="Courier New"/>
              <a:buChar char="o"/>
            </a:pPr>
            <a:endParaRPr lang="en-GB" dirty="0"/>
          </a:p>
          <a:p>
            <a:r>
              <a:rPr lang="en-GB" dirty="0"/>
              <a:t>The model without the </a:t>
            </a:r>
            <a:r>
              <a:rPr lang="en-GB"/>
              <a:t>interaction is the preferred model</a:t>
            </a:r>
          </a:p>
        </p:txBody>
      </p:sp>
    </p:spTree>
    <p:extLst>
      <p:ext uri="{BB962C8B-B14F-4D97-AF65-F5344CB8AC3E}">
        <p14:creationId xmlns:p14="http://schemas.microsoft.com/office/powerpoint/2010/main" val="10246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18B7B-A4FE-74DE-5E3C-BE37C5BF2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089F9F-94BC-95ED-8F45-4ACFD1530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744E3-9229-4A3B-DCE4-A5AAFA1B1BDA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latin typeface="Calibri"/>
                <a:ea typeface="+mj-ea"/>
                <a:cs typeface="+mj-cs"/>
              </a:rPr>
              <a:t>Report the outcome of the test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4E8391E-69D9-1564-9C8D-F5FBAC3A7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2F2FF-E8C2-CB49-6FC1-DBE6608ACE6E}"/>
              </a:ext>
            </a:extLst>
          </p:cNvPr>
          <p:cNvSpPr txBox="1"/>
          <p:nvPr/>
        </p:nvSpPr>
        <p:spPr>
          <a:xfrm>
            <a:off x="5126418" y="552091"/>
            <a:ext cx="6334466" cy="54249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latin typeface="Calibri"/>
                <a:ea typeface="Calibri"/>
                <a:cs typeface="Calibri"/>
              </a:rPr>
              <a:t>"In 1976, Cactus finch beak depths were 10.5 ± 0.9 mm (mean ± SEM), Ground finch beak depths were 1.0 ± 0.1 mm shorter (</a:t>
            </a:r>
            <a:r>
              <a:rPr lang="en-US" sz="2200" i="1" dirty="0">
                <a:latin typeface="Calibri"/>
                <a:ea typeface="Calibri"/>
                <a:cs typeface="Calibri"/>
              </a:rPr>
              <a:t>t</a:t>
            </a:r>
            <a:r>
              <a:rPr lang="en-US" sz="2200" baseline="-25000" dirty="0">
                <a:latin typeface="Calibri"/>
                <a:ea typeface="Calibri"/>
                <a:cs typeface="Calibri"/>
              </a:rPr>
              <a:t>268</a:t>
            </a:r>
            <a:r>
              <a:rPr lang="en-US" sz="2200" dirty="0">
                <a:latin typeface="Calibri"/>
                <a:ea typeface="Calibri"/>
                <a:cs typeface="Calibri"/>
              </a:rPr>
              <a:t> = 9.2, </a:t>
            </a:r>
            <a:r>
              <a:rPr lang="en-US" sz="2200" i="1" dirty="0">
                <a:latin typeface="Calibri"/>
                <a:ea typeface="Calibri"/>
                <a:cs typeface="Calibri"/>
              </a:rPr>
              <a:t>P </a:t>
            </a:r>
            <a:r>
              <a:rPr lang="en-US" sz="2200" dirty="0">
                <a:latin typeface="Calibri"/>
                <a:ea typeface="Calibri"/>
                <a:cs typeface="Calibri"/>
              </a:rPr>
              <a:t>= 1.4x10</a:t>
            </a:r>
            <a:r>
              <a:rPr lang="en-US" sz="2200" baseline="30000" dirty="0">
                <a:latin typeface="Calibri"/>
                <a:ea typeface="Calibri"/>
                <a:cs typeface="Calibri"/>
              </a:rPr>
              <a:t>-17</a:t>
            </a:r>
            <a:r>
              <a:rPr lang="en-US" sz="2200" dirty="0">
                <a:latin typeface="Calibri"/>
                <a:ea typeface="Calibri"/>
                <a:cs typeface="Calibri"/>
              </a:rPr>
              <a:t>). By 1978, beak depths of both species had increased equally by 0.49 ± 0.11 mm (</a:t>
            </a:r>
            <a:r>
              <a:rPr lang="en-US" sz="2200" i="1" dirty="0">
                <a:latin typeface="Calibri"/>
                <a:ea typeface="Calibri"/>
                <a:cs typeface="Calibri"/>
              </a:rPr>
              <a:t>t</a:t>
            </a:r>
            <a:r>
              <a:rPr lang="en-US" sz="2200" baseline="-25000" dirty="0">
                <a:latin typeface="Calibri"/>
                <a:ea typeface="Calibri"/>
                <a:cs typeface="Calibri"/>
              </a:rPr>
              <a:t>268</a:t>
            </a:r>
            <a:r>
              <a:rPr lang="en-US" sz="2200" dirty="0">
                <a:latin typeface="Calibri"/>
                <a:ea typeface="Calibri"/>
                <a:cs typeface="Calibri"/>
              </a:rPr>
              <a:t> = 4.4, </a:t>
            </a:r>
            <a:r>
              <a:rPr lang="en-US" sz="2200" i="1" dirty="0">
                <a:latin typeface="Calibri"/>
                <a:ea typeface="Calibri"/>
                <a:cs typeface="Calibri"/>
              </a:rPr>
              <a:t>P </a:t>
            </a:r>
            <a:r>
              <a:rPr lang="en-US" sz="2200" dirty="0">
                <a:latin typeface="Calibri"/>
                <a:ea typeface="Calibri"/>
                <a:cs typeface="Calibri"/>
              </a:rPr>
              <a:t>= 1.8x10</a:t>
            </a:r>
            <a:r>
              <a:rPr lang="en-US" sz="2200" baseline="30000" dirty="0">
                <a:latin typeface="Calibri"/>
                <a:ea typeface="Calibri"/>
                <a:cs typeface="Calibri"/>
              </a:rPr>
              <a:t>-5</a:t>
            </a:r>
            <a:r>
              <a:rPr lang="en-US" sz="2200" dirty="0">
                <a:latin typeface="Calibri"/>
                <a:ea typeface="Calibri"/>
                <a:cs typeface="Calibri"/>
              </a:rPr>
              <a:t>)."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latin typeface="Calibri"/>
                <a:ea typeface="Calibri"/>
                <a:cs typeface="Calibri"/>
              </a:rPr>
              <a:t>Could have used 95% CI instead of SEM. Chose whichever one you want, but specify which one in the text.</a:t>
            </a:r>
          </a:p>
        </p:txBody>
      </p:sp>
    </p:spTree>
    <p:extLst>
      <p:ext uri="{BB962C8B-B14F-4D97-AF65-F5344CB8AC3E}">
        <p14:creationId xmlns:p14="http://schemas.microsoft.com/office/powerpoint/2010/main" val="202773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0" strike="noStrike" spc="-1" dirty="0">
                <a:latin typeface="Calibri"/>
                <a:ea typeface="+mj-ea"/>
                <a:cs typeface="+mj-cs"/>
              </a:rPr>
              <a:t>Rattlesnake temperatures whilst eating</a:t>
            </a:r>
          </a:p>
        </p:txBody>
      </p:sp>
      <p:sp>
        <p:nvSpPr>
          <p:cNvPr id="14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E00D0-0382-3696-A7E5-F2936D8BE0B6}"/>
              </a:ext>
            </a:extLst>
          </p:cNvPr>
          <p:cNvSpPr txBox="1"/>
          <p:nvPr/>
        </p:nvSpPr>
        <p:spPr>
          <a:xfrm>
            <a:off x="640080" y="2872899"/>
            <a:ext cx="4447319" cy="26977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 dirty="0">
                <a:latin typeface="Calibri"/>
              </a:rPr>
              <a:t>Scientists* wanted to know how much rattlesnake temperature changes when digesting meals of different sizes. </a:t>
            </a:r>
            <a:endParaRPr lang="en-US" sz="2000">
              <a:latin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spc="-1" dirty="0">
              <a:latin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 dirty="0">
                <a:latin typeface="Calibri"/>
              </a:rPr>
              <a:t>They measured weight of meal relative to weight of the rattlesnake and the maximum change in temperature during digestion relative to pre-meal temperature.</a:t>
            </a:r>
            <a:endParaRPr lang="en-US" sz="2000">
              <a:latin typeface="Calibri"/>
            </a:endParaRPr>
          </a:p>
        </p:txBody>
      </p:sp>
      <p:pic>
        <p:nvPicPr>
          <p:cNvPr id="3" name="Picture 2" descr="A snake on the ground&#10;&#10;Description automatically generated">
            <a:extLst>
              <a:ext uri="{FF2B5EF4-FFF2-40B4-BE49-F238E27FC236}">
                <a16:creationId xmlns:a16="http://schemas.microsoft.com/office/drawing/2014/main" id="{3B7E67F2-976E-F371-3C94-8775387534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0" r="2049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758092-FB8A-D897-5B72-0F102A323E72}"/>
              </a:ext>
            </a:extLst>
          </p:cNvPr>
          <p:cNvSpPr txBox="1"/>
          <p:nvPr/>
        </p:nvSpPr>
        <p:spPr>
          <a:xfrm>
            <a:off x="642743" y="5971323"/>
            <a:ext cx="318584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Calibri"/>
                <a:cs typeface="Arial"/>
              </a:rPr>
              <a:t>*Tattersall et al. (2004)</a:t>
            </a:r>
            <a:endParaRPr lang="en-US"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8" name="Rectangle 14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latin typeface="Calibri"/>
              </a:rPr>
              <a:t>Is there a relationship between the size of a rattlesnake’s meal and it’s change in temperature?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0" strike="noStrike" spc="-1" dirty="0">
              <a:latin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latin typeface="Calibri"/>
              </a:rPr>
              <a:t>And, if so, what is the numerical relationship?</a:t>
            </a:r>
          </a:p>
        </p:txBody>
      </p:sp>
      <p:pic>
        <p:nvPicPr>
          <p:cNvPr id="2" name="Picture 1" descr="A graph of a positive relationship&#10;&#10;Description automatically generated">
            <a:extLst>
              <a:ext uri="{FF2B5EF4-FFF2-40B4-BE49-F238E27FC236}">
                <a16:creationId xmlns:a16="http://schemas.microsoft.com/office/drawing/2014/main" id="{858E1370-0703-E6D4-7178-B700D54AF5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4" r="6304"/>
          <a:stretch/>
        </p:blipFill>
        <p:spPr>
          <a:xfrm>
            <a:off x="4250463" y="1707888"/>
            <a:ext cx="7943513" cy="302985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53E85D-E302-8B1C-30B5-463C1FC130D8}"/>
              </a:ext>
            </a:extLst>
          </p:cNvPr>
          <p:cNvSpPr/>
          <p:nvPr/>
        </p:nvSpPr>
        <p:spPr>
          <a:xfrm>
            <a:off x="7010554" y="1397000"/>
            <a:ext cx="5042829" cy="3568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52D01-3B12-68CC-77A4-A73A282DA28D}"/>
              </a:ext>
            </a:extLst>
          </p:cNvPr>
          <p:cNvSpPr/>
          <p:nvPr/>
        </p:nvSpPr>
        <p:spPr>
          <a:xfrm>
            <a:off x="9420455" y="1539487"/>
            <a:ext cx="2775415" cy="3568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DF9612-837C-A600-7A61-6F0B7AB9595A}"/>
              </a:ext>
            </a:extLst>
          </p:cNvPr>
          <p:cNvSpPr/>
          <p:nvPr/>
        </p:nvSpPr>
        <p:spPr>
          <a:xfrm>
            <a:off x="4356564" y="1710473"/>
            <a:ext cx="8041268" cy="3568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6A2C7-C74A-33C1-5645-53129AA96F86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0" strike="noStrike" spc="-1" dirty="0">
                <a:latin typeface="Calibri"/>
                <a:ea typeface="+mj-ea"/>
                <a:cs typeface="+mj-cs"/>
              </a:rPr>
              <a:t>Rattlesnake temperatures whilst eating</a:t>
            </a:r>
          </a:p>
        </p:txBody>
      </p:sp>
    </p:spTree>
    <p:extLst>
      <p:ext uri="{BB962C8B-B14F-4D97-AF65-F5344CB8AC3E}">
        <p14:creationId xmlns:p14="http://schemas.microsoft.com/office/powerpoint/2010/main" val="334356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44"/>
          <p:cNvPicPr/>
          <p:nvPr/>
        </p:nvPicPr>
        <p:blipFill>
          <a:blip r:embed="rId2"/>
          <a:stretch/>
        </p:blipFill>
        <p:spPr>
          <a:xfrm>
            <a:off x="837715" y="366"/>
            <a:ext cx="5943305" cy="6851385"/>
          </a:xfrm>
          <a:prstGeom prst="rect">
            <a:avLst/>
          </a:prstGeom>
          <a:ln w="0">
            <a:noFill/>
          </a:ln>
        </p:spPr>
      </p:pic>
      <p:sp>
        <p:nvSpPr>
          <p:cNvPr id="146" name="TextBox 145"/>
          <p:cNvSpPr txBox="1"/>
          <p:nvPr/>
        </p:nvSpPr>
        <p:spPr>
          <a:xfrm>
            <a:off x="5775873" y="1333788"/>
            <a:ext cx="4266451" cy="413451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“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alibri"/>
              </a:rPr>
              <a:t>mealSize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” is the weight of the meal relative to the weight of the rattlesnake recorded as a percentage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 (e.g., 50% means the meal was half the weight of the snake)</a:t>
            </a:r>
            <a:endParaRPr lang="en-GB" sz="2000">
              <a:latin typeface="Calibri"/>
            </a:endParaRPr>
          </a:p>
          <a:p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“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alibri"/>
              </a:rPr>
              <a:t>tempChange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” is the change in temperature measured in degrees Celsius</a:t>
            </a:r>
          </a:p>
          <a:p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  <a:p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“</a:t>
            </a:r>
            <a:r>
              <a:rPr lang="en-GB" sz="2000" b="0" strike="noStrike" spc="-1" err="1">
                <a:solidFill>
                  <a:srgbClr val="000000"/>
                </a:solidFill>
                <a:latin typeface="Calibri"/>
              </a:rPr>
              <a:t>mealSize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” is the explanatory variable</a:t>
            </a:r>
          </a:p>
          <a:p>
            <a:endParaRPr lang="en-GB" sz="20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“</a:t>
            </a:r>
            <a:r>
              <a:rPr lang="en-GB" sz="2000" b="0" strike="noStrike" spc="-1" err="1">
                <a:solidFill>
                  <a:srgbClr val="000000"/>
                </a:solidFill>
                <a:latin typeface="Calibri"/>
              </a:rPr>
              <a:t>tempChange</a:t>
            </a:r>
            <a:r>
              <a:rPr lang="en-GB" sz="2000" b="0" strike="noStrike" spc="-1" dirty="0">
                <a:solidFill>
                  <a:srgbClr val="000000"/>
                </a:solidFill>
                <a:latin typeface="Calibri"/>
              </a:rPr>
              <a:t>” is the response variable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D858C42-9E22-A5A9-9B0D-59F04E46B89A}"/>
              </a:ext>
            </a:extLst>
          </p:cNvPr>
          <p:cNvCxnSpPr/>
          <p:nvPr/>
        </p:nvCxnSpPr>
        <p:spPr>
          <a:xfrm flipH="1" flipV="1">
            <a:off x="2667507" y="880824"/>
            <a:ext cx="3150345" cy="69266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913FB3-2CA9-050F-6DA6-7EA157919280}"/>
              </a:ext>
            </a:extLst>
          </p:cNvPr>
          <p:cNvCxnSpPr/>
          <p:nvPr/>
        </p:nvCxnSpPr>
        <p:spPr>
          <a:xfrm flipH="1" flipV="1">
            <a:off x="3687811" y="861452"/>
            <a:ext cx="2112769" cy="23262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D738221-8A44-1C1B-B36F-F03D439CA4CB}"/>
              </a:ext>
            </a:extLst>
          </p:cNvPr>
          <p:cNvSpPr txBox="1"/>
          <p:nvPr/>
        </p:nvSpPr>
        <p:spPr>
          <a:xfrm>
            <a:off x="5819086" y="803480"/>
            <a:ext cx="49007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Each row is an observation of a single rattlesnake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47776E-B59A-7E60-D5B7-3163263CE262}"/>
              </a:ext>
            </a:extLst>
          </p:cNvPr>
          <p:cNvCxnSpPr/>
          <p:nvPr/>
        </p:nvCxnSpPr>
        <p:spPr>
          <a:xfrm flipH="1">
            <a:off x="3738580" y="1016401"/>
            <a:ext cx="2056960" cy="79257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build="p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68847-765D-06F9-361E-A47983601066}"/>
              </a:ext>
            </a:extLst>
          </p:cNvPr>
          <p:cNvSpPr txBox="1"/>
          <p:nvPr/>
        </p:nvSpPr>
        <p:spPr>
          <a:xfrm>
            <a:off x="6199934" y="2097805"/>
            <a:ext cx="580025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A scatter plot is the best plot for examining the relationship between two numerical variables</a:t>
            </a:r>
          </a:p>
          <a:p>
            <a:endParaRPr lang="en-US" dirty="0">
              <a:latin typeface="Calibri"/>
            </a:endParaRPr>
          </a:p>
          <a:p>
            <a:endParaRPr lang="en-US" dirty="0">
              <a:latin typeface="Calibri"/>
            </a:endParaRPr>
          </a:p>
          <a:p>
            <a:endParaRPr lang="en-US" dirty="0">
              <a:latin typeface="Calibri"/>
            </a:endParaRPr>
          </a:p>
          <a:p>
            <a:r>
              <a:rPr lang="en-US" dirty="0">
                <a:latin typeface="Calibri"/>
              </a:rPr>
              <a:t>The seaborn </a:t>
            </a:r>
            <a:r>
              <a:rPr lang="en-US" dirty="0" err="1">
                <a:latin typeface="Calibri"/>
              </a:rPr>
              <a:t>lmplot</a:t>
            </a:r>
            <a:r>
              <a:rPr lang="en-US" dirty="0">
                <a:latin typeface="Calibri"/>
              </a:rPr>
              <a:t>() produces a scatter plot and, in addition, plots the fit of the model:</a:t>
            </a:r>
          </a:p>
          <a:p>
            <a:endParaRPr lang="en-US" dirty="0">
              <a:latin typeface="Calibri"/>
            </a:endParaRPr>
          </a:p>
          <a:p>
            <a:r>
              <a:rPr lang="en-US" sz="1600" dirty="0">
                <a:latin typeface="Andale Mono"/>
              </a:rPr>
              <a:t>          </a:t>
            </a:r>
            <a:r>
              <a:rPr lang="en-US" sz="1600" err="1">
                <a:latin typeface="Consolas"/>
              </a:rPr>
              <a:t>tempChange</a:t>
            </a:r>
            <a:r>
              <a:rPr lang="en-US" sz="1600" dirty="0">
                <a:latin typeface="Consolas"/>
              </a:rPr>
              <a:t> ~ </a:t>
            </a:r>
            <a:r>
              <a:rPr lang="en-US" sz="1600" err="1">
                <a:latin typeface="Consolas"/>
              </a:rPr>
              <a:t>mealSize</a:t>
            </a:r>
            <a:endParaRPr lang="en-US" sz="1600">
              <a:latin typeface="Consolas"/>
            </a:endParaRPr>
          </a:p>
        </p:txBody>
      </p:sp>
      <p:pic>
        <p:nvPicPr>
          <p:cNvPr id="4" name="Picture 3" descr="A graph with blue dots and white text&#10;&#10;Description automatically generated">
            <a:extLst>
              <a:ext uri="{FF2B5EF4-FFF2-40B4-BE49-F238E27FC236}">
                <a16:creationId xmlns:a16="http://schemas.microsoft.com/office/drawing/2014/main" id="{B8E97F7F-0FDF-999F-9B8A-56A391D27F2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11619" y="269769"/>
            <a:ext cx="5590800" cy="566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46"/>
          <p:cNvPicPr/>
          <p:nvPr/>
        </p:nvPicPr>
        <p:blipFill>
          <a:blip r:embed="rId2"/>
          <a:stretch/>
        </p:blipFill>
        <p:spPr>
          <a:xfrm>
            <a:off x="711619" y="271893"/>
            <a:ext cx="5590800" cy="566964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F68847-765D-06F9-361E-A47983601066}"/>
              </a:ext>
            </a:extLst>
          </p:cNvPr>
          <p:cNvSpPr txBox="1"/>
          <p:nvPr/>
        </p:nvSpPr>
        <p:spPr>
          <a:xfrm>
            <a:off x="7275103" y="819611"/>
            <a:ext cx="4425283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</a:rPr>
              <a:t>Each blue circle is a measurement on one rattlesnake</a:t>
            </a:r>
            <a:endParaRPr lang="en-US">
              <a:latin typeface="Calibri"/>
            </a:endParaRPr>
          </a:p>
          <a:p>
            <a:endParaRPr lang="en-US" dirty="0">
              <a:latin typeface="Calibri"/>
            </a:endParaRPr>
          </a:p>
          <a:p>
            <a:r>
              <a:rPr lang="en-US" dirty="0">
                <a:latin typeface="Calibri"/>
              </a:rPr>
              <a:t>The blue line is the fit of the model. It is called a regression line</a:t>
            </a:r>
          </a:p>
          <a:p>
            <a:endParaRPr lang="en-US" dirty="0">
              <a:latin typeface="Calibri"/>
            </a:endParaRPr>
          </a:p>
          <a:p>
            <a:r>
              <a:rPr lang="en-US" dirty="0">
                <a:latin typeface="Calibri"/>
              </a:rPr>
              <a:t>It is the estimated mean temperature change against meal size</a:t>
            </a:r>
          </a:p>
          <a:p>
            <a:r>
              <a:rPr lang="en-US" dirty="0">
                <a:solidFill>
                  <a:srgbClr val="7030A0"/>
                </a:solidFill>
                <a:latin typeface="Calibri"/>
              </a:rPr>
              <a:t>(e.g., a meal size of 50% causes an estimated temperature change of 1.4</a:t>
            </a:r>
            <a:r>
              <a:rPr lang="en-US" baseline="30000" dirty="0">
                <a:solidFill>
                  <a:srgbClr val="7030A0"/>
                </a:solidFill>
                <a:latin typeface="Calibri"/>
              </a:rPr>
              <a:t>o</a:t>
            </a:r>
            <a:r>
              <a:rPr lang="en-US" dirty="0">
                <a:solidFill>
                  <a:srgbClr val="7030A0"/>
                </a:solidFill>
                <a:latin typeface="Calibri"/>
              </a:rPr>
              <a:t>C, on average)</a:t>
            </a:r>
          </a:p>
          <a:p>
            <a:endParaRPr lang="en-US" dirty="0">
              <a:latin typeface="Calibri"/>
            </a:endParaRPr>
          </a:p>
          <a:p>
            <a:r>
              <a:rPr lang="en-US" dirty="0">
                <a:latin typeface="Calibri"/>
              </a:rPr>
              <a:t>The blue band is the 95% CI of the estimated mean</a:t>
            </a:r>
          </a:p>
          <a:p>
            <a:endParaRPr lang="en-US" dirty="0">
              <a:latin typeface="Calibri"/>
            </a:endParaRPr>
          </a:p>
          <a:p>
            <a:r>
              <a:rPr lang="en-US" dirty="0">
                <a:latin typeface="Calibri"/>
              </a:rPr>
              <a:t>It indicates the </a:t>
            </a:r>
            <a:r>
              <a:rPr lang="en-US">
                <a:latin typeface="Calibri"/>
              </a:rPr>
              <a:t>uncertainty</a:t>
            </a:r>
            <a:r>
              <a:rPr lang="en-US" dirty="0">
                <a:latin typeface="Calibri"/>
              </a:rPr>
              <a:t> in the estimated mean</a:t>
            </a:r>
          </a:p>
          <a:p>
            <a:endParaRPr lang="en-US" dirty="0">
              <a:latin typeface="Calibri"/>
            </a:endParaRPr>
          </a:p>
          <a:p>
            <a:r>
              <a:rPr lang="en-GB" dirty="0">
                <a:latin typeface="Calibri"/>
                <a:cs typeface="Arial"/>
              </a:rPr>
              <a:t>There is a clear positive relationship between meal size and temperature change</a:t>
            </a:r>
            <a:endParaRPr lang="en-US">
              <a:latin typeface="Calibri"/>
              <a:cs typeface="Arial"/>
            </a:endParaRPr>
          </a:p>
          <a:p>
            <a:endParaRPr lang="en-US" dirty="0">
              <a:latin typeface="Calibri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8047C59-D10D-E67F-0DFF-E9F53BEC4E41}"/>
              </a:ext>
            </a:extLst>
          </p:cNvPr>
          <p:cNvCxnSpPr/>
          <p:nvPr/>
        </p:nvCxnSpPr>
        <p:spPr>
          <a:xfrm flipH="1">
            <a:off x="5871088" y="1183558"/>
            <a:ext cx="1433050" cy="1263076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E4FAE7C-87B9-B279-4ECC-028EFB12A6FD}"/>
              </a:ext>
            </a:extLst>
          </p:cNvPr>
          <p:cNvCxnSpPr>
            <a:cxnSpLocks/>
          </p:cNvCxnSpPr>
          <p:nvPr/>
        </p:nvCxnSpPr>
        <p:spPr>
          <a:xfrm flipH="1" flipV="1">
            <a:off x="5549242" y="1821276"/>
            <a:ext cx="1730315" cy="124281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57E6E7-818F-B7B2-F4CE-7DA4ED27D975}"/>
              </a:ext>
            </a:extLst>
          </p:cNvPr>
          <p:cNvCxnSpPr>
            <a:cxnSpLocks/>
          </p:cNvCxnSpPr>
          <p:nvPr/>
        </p:nvCxnSpPr>
        <p:spPr>
          <a:xfrm flipH="1" flipV="1">
            <a:off x="4941820" y="2551901"/>
            <a:ext cx="2350328" cy="1722822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732F1F7-DF38-A212-CBC9-311E54088223}"/>
              </a:ext>
            </a:extLst>
          </p:cNvPr>
          <p:cNvGrpSpPr/>
          <p:nvPr/>
        </p:nvGrpSpPr>
        <p:grpSpPr>
          <a:xfrm>
            <a:off x="1568993" y="1603065"/>
            <a:ext cx="4224684" cy="3838108"/>
            <a:chOff x="1568993" y="1603065"/>
            <a:chExt cx="4224684" cy="383810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2A97266-66F6-E50F-4DF8-E3991EFF143E}"/>
                </a:ext>
              </a:extLst>
            </p:cNvPr>
            <p:cNvCxnSpPr/>
            <p:nvPr/>
          </p:nvCxnSpPr>
          <p:spPr>
            <a:xfrm flipH="1">
              <a:off x="5778809" y="1608873"/>
              <a:ext cx="14868" cy="3832300"/>
            </a:xfrm>
            <a:prstGeom prst="straightConnector1">
              <a:avLst/>
            </a:prstGeom>
            <a:ln w="5715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0A9186C-5677-65E8-4691-46C5AB940D43}"/>
                </a:ext>
              </a:extLst>
            </p:cNvPr>
            <p:cNvCxnSpPr/>
            <p:nvPr/>
          </p:nvCxnSpPr>
          <p:spPr>
            <a:xfrm>
              <a:off x="1568993" y="1603065"/>
              <a:ext cx="4222592" cy="9910"/>
            </a:xfrm>
            <a:prstGeom prst="straightConnector1">
              <a:avLst/>
            </a:prstGeom>
            <a:ln w="5715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0C43E0-47E9-CC9A-3BCF-934C32C69C15}"/>
              </a:ext>
            </a:extLst>
          </p:cNvPr>
          <p:cNvCxnSpPr>
            <a:cxnSpLocks/>
          </p:cNvCxnSpPr>
          <p:nvPr/>
        </p:nvCxnSpPr>
        <p:spPr>
          <a:xfrm flipH="1">
            <a:off x="5862715" y="3330786"/>
            <a:ext cx="1383389" cy="2013036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523190-E693-820F-0BED-EBABBB64F106}"/>
              </a:ext>
            </a:extLst>
          </p:cNvPr>
          <p:cNvCxnSpPr>
            <a:cxnSpLocks/>
          </p:cNvCxnSpPr>
          <p:nvPr/>
        </p:nvCxnSpPr>
        <p:spPr>
          <a:xfrm flipV="1">
            <a:off x="870989" y="1603095"/>
            <a:ext cx="694170" cy="7704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F86D0E5-9B36-1C06-5F14-94749BFE7B1A}"/>
              </a:ext>
            </a:extLst>
          </p:cNvPr>
          <p:cNvSpPr txBox="1"/>
          <p:nvPr/>
        </p:nvSpPr>
        <p:spPr>
          <a:xfrm>
            <a:off x="148158" y="1422945"/>
            <a:ext cx="122501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1.4°C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4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12" grpId="0"/>
      <p:bldP spid="12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49"/>
          <p:cNvSpPr txBox="1"/>
          <p:nvPr/>
        </p:nvSpPr>
        <p:spPr>
          <a:xfrm>
            <a:off x="4064001" y="3074972"/>
            <a:ext cx="4053820" cy="34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strike="noStrike" spc="-1" err="1">
                <a:solidFill>
                  <a:srgbClr val="000000"/>
                </a:solidFill>
                <a:latin typeface="Consolas"/>
              </a:rPr>
              <a:t>tempChange</a:t>
            </a:r>
            <a:r>
              <a:rPr lang="en-GB" sz="2400" b="0" strike="noStrike" spc="-1" dirty="0">
                <a:solidFill>
                  <a:srgbClr val="000000"/>
                </a:solidFill>
                <a:latin typeface="Consolas"/>
              </a:rPr>
              <a:t> ~ </a:t>
            </a:r>
            <a:r>
              <a:rPr lang="en-GB" sz="2400" b="0" strike="noStrike" spc="-1" err="1">
                <a:solidFill>
                  <a:srgbClr val="000000"/>
                </a:solidFill>
                <a:latin typeface="Consolas"/>
              </a:rPr>
              <a:t>mealSize</a:t>
            </a:r>
            <a:endParaRPr lang="en-GB" sz="2400" b="0" strike="noStrike" spc="-1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3167695" y="2509880"/>
            <a:ext cx="5848347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strike="noStrike" spc="-1" dirty="0">
                <a:solidFill>
                  <a:srgbClr val="000000"/>
                </a:solidFill>
                <a:latin typeface="Calibri"/>
              </a:rPr>
              <a:t>“Temperature change is related to meal size”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84350D9-E5D9-1808-3FDB-2B5C01251E17}"/>
              </a:ext>
            </a:extLst>
          </p:cNvPr>
          <p:cNvPicPr/>
          <p:nvPr/>
        </p:nvPicPr>
        <p:blipFill rotWithShape="1">
          <a:blip r:embed="rId2"/>
          <a:srcRect r="100" b="54377"/>
          <a:stretch/>
        </p:blipFill>
        <p:spPr>
          <a:xfrm>
            <a:off x="2798396" y="4658842"/>
            <a:ext cx="6117818" cy="1056748"/>
          </a:xfrm>
          <a:prstGeom prst="rect">
            <a:avLst/>
          </a:prstGeom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4D9409-18EE-3AAE-52DB-DF95755BDA1C}"/>
              </a:ext>
            </a:extLst>
          </p:cNvPr>
          <p:cNvSpPr txBox="1"/>
          <p:nvPr/>
        </p:nvSpPr>
        <p:spPr>
          <a:xfrm>
            <a:off x="566310" y="787690"/>
            <a:ext cx="10909640" cy="748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spc="-1" dirty="0">
                <a:latin typeface="Calibri"/>
                <a:ea typeface="+mj-ea"/>
                <a:cs typeface="+mj-cs"/>
              </a:rPr>
              <a:t>The model</a:t>
            </a:r>
            <a:endParaRPr lang="en-US" sz="4400">
              <a:latin typeface="Calibri"/>
            </a:endParaRP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67653616-830C-628E-9341-912AF6C8F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1"/>
          <p:cNvPicPr/>
          <p:nvPr/>
        </p:nvPicPr>
        <p:blipFill rotWithShape="1">
          <a:blip r:embed="rId2"/>
          <a:srcRect t="44032" r="100"/>
          <a:stretch/>
        </p:blipFill>
        <p:spPr>
          <a:xfrm>
            <a:off x="330739" y="713799"/>
            <a:ext cx="6117818" cy="1296358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152"/>
          <p:cNvPicPr/>
          <p:nvPr/>
        </p:nvPicPr>
        <p:blipFill>
          <a:blip r:embed="rId3"/>
          <a:stretch/>
        </p:blipFill>
        <p:spPr>
          <a:xfrm>
            <a:off x="6935662" y="351234"/>
            <a:ext cx="5052449" cy="5126684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96DA89-F343-6131-FB82-4E598D982B19}"/>
              </a:ext>
            </a:extLst>
          </p:cNvPr>
          <p:cNvSpPr/>
          <p:nvPr/>
        </p:nvSpPr>
        <p:spPr>
          <a:xfrm>
            <a:off x="1408195" y="1534131"/>
            <a:ext cx="5048897" cy="446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1A3716-5B93-1FEF-DFB1-1C2034B2C06C}"/>
              </a:ext>
            </a:extLst>
          </p:cNvPr>
          <p:cNvCxnSpPr>
            <a:cxnSpLocks/>
          </p:cNvCxnSpPr>
          <p:nvPr/>
        </p:nvCxnSpPr>
        <p:spPr>
          <a:xfrm>
            <a:off x="2839136" y="1538059"/>
            <a:ext cx="5015187" cy="285560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14E43A-5F7F-9E63-0F98-B8F08B598D05}"/>
              </a:ext>
            </a:extLst>
          </p:cNvPr>
          <p:cNvSpPr/>
          <p:nvPr/>
        </p:nvSpPr>
        <p:spPr>
          <a:xfrm>
            <a:off x="900361" y="3811960"/>
            <a:ext cx="5393518" cy="187538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dirty="0">
                <a:solidFill>
                  <a:schemeClr val="bg1"/>
                </a:solidFill>
                <a:latin typeface="Calibri"/>
                <a:cs typeface="Arial"/>
              </a:rPr>
              <a:t>Intercept is not significantly different from zero (p = 0.379, 95% CI contains zero)</a:t>
            </a:r>
            <a:endParaRPr lang="en-US" sz="2000">
              <a:solidFill>
                <a:schemeClr val="bg1"/>
              </a:solidFill>
              <a:latin typeface="Calibri"/>
              <a:cs typeface="Arial"/>
            </a:endParaRPr>
          </a:p>
          <a:p>
            <a:endParaRPr lang="en-GB" sz="2000" dirty="0">
              <a:solidFill>
                <a:schemeClr val="bg1"/>
              </a:solidFill>
              <a:latin typeface="Calibri"/>
              <a:cs typeface="Arial"/>
            </a:endParaRPr>
          </a:p>
          <a:p>
            <a:r>
              <a:rPr lang="en-GB" sz="2000" dirty="0">
                <a:solidFill>
                  <a:schemeClr val="bg1"/>
                </a:solidFill>
                <a:latin typeface="Calibri"/>
                <a:cs typeface="Arial"/>
              </a:rPr>
              <a:t>Makes sense: no meal implies no change in temperature</a:t>
            </a:r>
            <a:endParaRPr lang="en-US" sz="2000">
              <a:solidFill>
                <a:schemeClr val="bg1"/>
              </a:solidFill>
              <a:latin typeface="Calibri"/>
              <a:cs typeface="Arial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B00D20-B20E-C91D-09CF-F3161402399C}"/>
              </a:ext>
            </a:extLst>
          </p:cNvPr>
          <p:cNvCxnSpPr>
            <a:cxnSpLocks/>
          </p:cNvCxnSpPr>
          <p:nvPr/>
        </p:nvCxnSpPr>
        <p:spPr>
          <a:xfrm flipH="1">
            <a:off x="3625054" y="1509402"/>
            <a:ext cx="1753187" cy="228892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8D0C0E-DC14-12E5-556E-FAA576DFE77A}"/>
              </a:ext>
            </a:extLst>
          </p:cNvPr>
          <p:cNvSpPr/>
          <p:nvPr/>
        </p:nvSpPr>
        <p:spPr>
          <a:xfrm>
            <a:off x="2445749" y="1177583"/>
            <a:ext cx="737607" cy="336452"/>
          </a:xfrm>
          <a:prstGeom prst="round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7EFBD9-D95C-CD48-FDBE-EF1B28E46FE2}"/>
              </a:ext>
            </a:extLst>
          </p:cNvPr>
          <p:cNvSpPr/>
          <p:nvPr/>
        </p:nvSpPr>
        <p:spPr>
          <a:xfrm>
            <a:off x="4395475" y="1164332"/>
            <a:ext cx="2037976" cy="361299"/>
          </a:xfrm>
          <a:prstGeom prst="round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1"/>
          <p:cNvPicPr/>
          <p:nvPr/>
        </p:nvPicPr>
        <p:blipFill rotWithShape="1">
          <a:blip r:embed="rId2"/>
          <a:srcRect t="44032" r="100"/>
          <a:stretch/>
        </p:blipFill>
        <p:spPr>
          <a:xfrm>
            <a:off x="330739" y="713799"/>
            <a:ext cx="6117818" cy="1296358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152"/>
          <p:cNvPicPr/>
          <p:nvPr/>
        </p:nvPicPr>
        <p:blipFill>
          <a:blip r:embed="rId3"/>
          <a:stretch/>
        </p:blipFill>
        <p:spPr>
          <a:xfrm>
            <a:off x="6935662" y="351234"/>
            <a:ext cx="5052449" cy="5126684"/>
          </a:xfrm>
          <a:prstGeom prst="rect">
            <a:avLst/>
          </a:prstGeom>
          <a:ln w="0">
            <a:noFill/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31CDDE-B9DD-7CD8-7C53-FEEAB51ADF39}"/>
              </a:ext>
            </a:extLst>
          </p:cNvPr>
          <p:cNvCxnSpPr>
            <a:cxnSpLocks/>
          </p:cNvCxnSpPr>
          <p:nvPr/>
        </p:nvCxnSpPr>
        <p:spPr>
          <a:xfrm>
            <a:off x="3167735" y="1905098"/>
            <a:ext cx="6294688" cy="1194819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34AB4DB-2B85-6DD0-48F6-B0044A514430}"/>
              </a:ext>
            </a:extLst>
          </p:cNvPr>
          <p:cNvSpPr/>
          <p:nvPr/>
        </p:nvSpPr>
        <p:spPr>
          <a:xfrm>
            <a:off x="1408195" y="1138477"/>
            <a:ext cx="5048897" cy="446501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2775A5-393F-28E5-2AF2-755F667D87C1}"/>
              </a:ext>
            </a:extLst>
          </p:cNvPr>
          <p:cNvSpPr/>
          <p:nvPr/>
        </p:nvSpPr>
        <p:spPr>
          <a:xfrm>
            <a:off x="1554725" y="3144727"/>
            <a:ext cx="5372996" cy="343897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2000" dirty="0">
                <a:solidFill>
                  <a:schemeClr val="bg1"/>
                </a:solidFill>
                <a:latin typeface="Calibri"/>
                <a:cs typeface="Arial"/>
              </a:rPr>
              <a:t>Slope is 0.0269 ± 0.003 °C</a:t>
            </a:r>
            <a:endParaRPr lang="en-US" sz="2000" dirty="0">
              <a:solidFill>
                <a:schemeClr val="bg1"/>
              </a:solidFill>
              <a:latin typeface="Calibri"/>
              <a:cs typeface="Arial"/>
            </a:endParaRPr>
          </a:p>
          <a:p>
            <a:endParaRPr lang="en-GB" sz="2000">
              <a:solidFill>
                <a:schemeClr val="bg1"/>
              </a:solidFill>
              <a:latin typeface="Calibri"/>
              <a:cs typeface="Arial"/>
            </a:endParaRPr>
          </a:p>
          <a:p>
            <a:r>
              <a:rPr lang="en-GB" sz="2000" dirty="0" err="1">
                <a:solidFill>
                  <a:schemeClr val="bg1"/>
                </a:solidFill>
                <a:latin typeface="Consolas"/>
                <a:cs typeface="Arial"/>
              </a:rPr>
              <a:t>fit.values</a:t>
            </a:r>
            <a:r>
              <a:rPr lang="en-GB" sz="2000" i="1" dirty="0">
                <a:solidFill>
                  <a:schemeClr val="bg1"/>
                </a:solidFill>
                <a:latin typeface="Calibri"/>
                <a:cs typeface="Arial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alibri"/>
                <a:cs typeface="Arial"/>
              </a:rPr>
              <a:t>gives </a:t>
            </a:r>
            <a:r>
              <a:rPr lang="en-GB" sz="2000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GB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= 1.6x10</a:t>
            </a:r>
            <a:r>
              <a:rPr lang="en-GB" sz="2000" baseline="30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-8</a:t>
            </a:r>
            <a:endParaRPr lang="en-GB" sz="2000" baseline="30000" dirty="0">
              <a:solidFill>
                <a:schemeClr val="bg1"/>
              </a:solidFill>
              <a:latin typeface="Calibri"/>
              <a:cs typeface="Arial"/>
            </a:endParaRPr>
          </a:p>
          <a:p>
            <a:endParaRPr lang="en-GB" sz="2000" dirty="0">
              <a:solidFill>
                <a:schemeClr val="bg1"/>
              </a:solidFill>
              <a:latin typeface="Calibri"/>
              <a:cs typeface="Arial"/>
            </a:endParaRPr>
          </a:p>
          <a:p>
            <a:r>
              <a:rPr lang="en-GB" sz="2000" dirty="0">
                <a:solidFill>
                  <a:schemeClr val="bg1"/>
                </a:solidFill>
                <a:latin typeface="Calibri"/>
                <a:cs typeface="Arial"/>
              </a:rPr>
              <a:t>Data are incompatible with the null hypothesis that the slope is zero</a:t>
            </a:r>
          </a:p>
          <a:p>
            <a:endParaRPr lang="en-GB" sz="2000" dirty="0">
              <a:solidFill>
                <a:schemeClr val="bg1"/>
              </a:solidFill>
              <a:latin typeface="Calibri"/>
              <a:cs typeface="Arial"/>
            </a:endParaRPr>
          </a:p>
          <a:p>
            <a:r>
              <a:rPr lang="en-GB" sz="2000" dirty="0">
                <a:solidFill>
                  <a:schemeClr val="bg1"/>
                </a:solidFill>
                <a:latin typeface="Calibri"/>
                <a:cs typeface="Arial"/>
              </a:rPr>
              <a:t>Don't really need statistics to tell you that, but the numerical estimates with errors are important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87EFF1-FBDD-EC41-0418-BA51B54C0338}"/>
              </a:ext>
            </a:extLst>
          </p:cNvPr>
          <p:cNvSpPr/>
          <p:nvPr/>
        </p:nvSpPr>
        <p:spPr>
          <a:xfrm>
            <a:off x="2484572" y="1552857"/>
            <a:ext cx="1371690" cy="336452"/>
          </a:xfrm>
          <a:prstGeom prst="roundRect">
            <a:avLst/>
          </a:prstGeom>
          <a:noFill/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D3B91B-8AA8-CF44-E73F-B105711BA8F1}"/>
              </a:ext>
            </a:extLst>
          </p:cNvPr>
          <p:cNvSpPr/>
          <p:nvPr/>
        </p:nvSpPr>
        <p:spPr>
          <a:xfrm>
            <a:off x="4422702" y="1577704"/>
            <a:ext cx="675951" cy="311605"/>
          </a:xfrm>
          <a:prstGeom prst="roundRect">
            <a:avLst/>
          </a:prstGeom>
          <a:noFill/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27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9" grpId="0" animBg="1"/>
      <p:bldP spid="9" grpId="1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57"/>
          <p:cNvSpPr txBox="1"/>
          <p:nvPr/>
        </p:nvSpPr>
        <p:spPr>
          <a:xfrm>
            <a:off x="366259" y="408245"/>
            <a:ext cx="11340251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000" b="0" strike="noStrike" spc="-1" dirty="0">
                <a:solidFill>
                  <a:srgbClr val="000000"/>
                </a:solidFill>
                <a:latin typeface="Calibri"/>
              </a:rPr>
              <a:t>The numerical relationship between meal size and temperature change</a:t>
            </a:r>
            <a:endParaRPr lang="en-US" sz="2150">
              <a:latin typeface="Calibri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264997" y="2511579"/>
            <a:ext cx="7528027" cy="38329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spc="-1" dirty="0">
                <a:solidFill>
                  <a:srgbClr val="C00000"/>
                </a:solidFill>
                <a:latin typeface="Calibri"/>
              </a:rPr>
              <a:t>Mean temperature</a:t>
            </a:r>
            <a:r>
              <a:rPr lang="en-GB" sz="2400" b="0" strike="noStrike" spc="-1" dirty="0">
                <a:solidFill>
                  <a:srgbClr val="C00000"/>
                </a:solidFill>
                <a:latin typeface="Calibri"/>
              </a:rPr>
              <a:t> change = intercept </a:t>
            </a:r>
            <a:r>
              <a:rPr lang="en-GB" sz="2400" spc="-1" dirty="0">
                <a:solidFill>
                  <a:srgbClr val="C00000"/>
                </a:solidFill>
                <a:latin typeface="Calibri"/>
              </a:rPr>
              <a:t>+</a:t>
            </a:r>
            <a:r>
              <a:rPr lang="en-GB" sz="2400" b="0" strike="noStrike" spc="-1" dirty="0">
                <a:solidFill>
                  <a:srgbClr val="C00000"/>
                </a:solidFill>
                <a:latin typeface="Calibri"/>
              </a:rPr>
              <a:t> slope</a:t>
            </a:r>
            <a:r>
              <a:rPr lang="en-GB" sz="2400" spc="-1" dirty="0">
                <a:solidFill>
                  <a:srgbClr val="C00000"/>
                </a:solidFill>
                <a:latin typeface="Calibri"/>
              </a:rPr>
              <a:t> </a:t>
            </a:r>
            <a:r>
              <a:rPr lang="en-GB" sz="2400" spc="-1" dirty="0">
                <a:solidFill>
                  <a:srgbClr val="C00000"/>
                </a:solidFill>
                <a:latin typeface="Calibri"/>
                <a:ea typeface="+mn-lt"/>
                <a:cs typeface="+mn-lt"/>
              </a:rPr>
              <a:t>  x</a:t>
            </a:r>
            <a:r>
              <a:rPr lang="en-GB" sz="2400" spc="-1" dirty="0">
                <a:solidFill>
                  <a:srgbClr val="C00000"/>
                </a:solidFill>
                <a:latin typeface="Calibri"/>
              </a:rPr>
              <a:t>  </a:t>
            </a:r>
            <a:r>
              <a:rPr lang="en-GB" sz="2400" b="0" strike="noStrike" spc="-1" dirty="0">
                <a:solidFill>
                  <a:srgbClr val="C00000"/>
                </a:solidFill>
                <a:latin typeface="Calibri"/>
              </a:rPr>
              <a:t>meal size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64997" y="5167965"/>
            <a:ext cx="7521421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spc="-1" dirty="0">
                <a:solidFill>
                  <a:srgbClr val="C00000"/>
                </a:solidFill>
                <a:latin typeface="Calibri"/>
              </a:rPr>
              <a:t>Mean Temperature</a:t>
            </a:r>
            <a:r>
              <a:rPr lang="en-GB" sz="2400" b="0" strike="noStrike" spc="-1" dirty="0">
                <a:solidFill>
                  <a:srgbClr val="C00000"/>
                </a:solidFill>
                <a:latin typeface="Calibri"/>
              </a:rPr>
              <a:t> change (in </a:t>
            </a:r>
            <a:r>
              <a:rPr lang="en-GB" sz="2000" spc="-1" dirty="0">
                <a:solidFill>
                  <a:srgbClr val="C00000"/>
                </a:solidFill>
                <a:latin typeface="Arial"/>
                <a:cs typeface="Arial"/>
              </a:rPr>
              <a:t>°</a:t>
            </a:r>
            <a:r>
              <a:rPr lang="en-GB" sz="2400" b="0" strike="noStrike" spc="-1" dirty="0">
                <a:solidFill>
                  <a:srgbClr val="C00000"/>
                </a:solidFill>
                <a:latin typeface="Calibri"/>
              </a:rPr>
              <a:t>C) = </a:t>
            </a:r>
            <a:r>
              <a:rPr lang="en-GB" sz="2400" spc="-1" dirty="0">
                <a:solidFill>
                  <a:srgbClr val="C00000"/>
                </a:solidFill>
                <a:latin typeface="Calibri"/>
              </a:rPr>
              <a:t>0.027 x</a:t>
            </a:r>
            <a:r>
              <a:rPr lang="en-GB" sz="2400" b="0" strike="noStrike" spc="-1" dirty="0">
                <a:solidFill>
                  <a:srgbClr val="C00000"/>
                </a:solidFill>
                <a:latin typeface="Calibri"/>
              </a:rPr>
              <a:t> meal size</a:t>
            </a:r>
            <a:r>
              <a:rPr lang="en-GB" sz="2400" spc="-1" dirty="0">
                <a:solidFill>
                  <a:srgbClr val="C00000"/>
                </a:solidFill>
                <a:latin typeface="Calibri"/>
              </a:rPr>
              <a:t> (in %)</a:t>
            </a:r>
            <a:endParaRPr lang="en-GB" sz="2400" b="0" strike="noStrike" spc="-1" dirty="0">
              <a:solidFill>
                <a:srgbClr val="C00000"/>
              </a:solidFill>
              <a:latin typeface="Calibri"/>
            </a:endParaRPr>
          </a:p>
        </p:txBody>
      </p:sp>
      <p:pic>
        <p:nvPicPr>
          <p:cNvPr id="162" name="Picture 161"/>
          <p:cNvPicPr/>
          <p:nvPr/>
        </p:nvPicPr>
        <p:blipFill>
          <a:blip r:embed="rId2"/>
          <a:srcRect t="8017"/>
          <a:stretch/>
        </p:blipFill>
        <p:spPr>
          <a:xfrm>
            <a:off x="8820711" y="2510794"/>
            <a:ext cx="3221640" cy="300528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495C5F99-D1C0-C7D7-519C-7ECFFF69958D}"/>
              </a:ext>
            </a:extLst>
          </p:cNvPr>
          <p:cNvPicPr/>
          <p:nvPr/>
        </p:nvPicPr>
        <p:blipFill rotWithShape="1">
          <a:blip r:embed="rId3"/>
          <a:srcRect l="17814" t="44118"/>
          <a:stretch/>
        </p:blipFill>
        <p:spPr>
          <a:xfrm>
            <a:off x="2412300" y="3321945"/>
            <a:ext cx="5033047" cy="1294376"/>
          </a:xfrm>
          <a:prstGeom prst="rect">
            <a:avLst/>
          </a:prstGeom>
          <a:ln w="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834CEE-2EA2-CD2F-E5E8-81DDB21D813B}"/>
              </a:ext>
            </a:extLst>
          </p:cNvPr>
          <p:cNvSpPr txBox="1"/>
          <p:nvPr/>
        </p:nvSpPr>
        <p:spPr>
          <a:xfrm>
            <a:off x="6315939" y="2547708"/>
            <a:ext cx="884647" cy="34017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spc="-1" dirty="0">
                <a:solidFill>
                  <a:srgbClr val="C00000"/>
                </a:solidFill>
                <a:latin typeface="Calibri"/>
              </a:rPr>
              <a:t>0.027</a:t>
            </a:r>
            <a:endParaRPr lang="en-GB" sz="2400" b="0" strike="noStrike" spc="-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60102-CED6-9B3A-1691-8772E27FE468}"/>
              </a:ext>
            </a:extLst>
          </p:cNvPr>
          <p:cNvSpPr txBox="1"/>
          <p:nvPr/>
        </p:nvSpPr>
        <p:spPr>
          <a:xfrm>
            <a:off x="4931201" y="2537855"/>
            <a:ext cx="1167324" cy="35861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spc="-1" dirty="0">
                <a:solidFill>
                  <a:srgbClr val="C00000"/>
                </a:solidFill>
                <a:latin typeface="Calibri"/>
              </a:rPr>
              <a:t>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/>
      <p:bldP spid="161" grpId="0"/>
      <p:bldP spid="4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1D374-B5D8-763F-CED8-840A57DFB8CD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latin typeface="Calibri"/>
                <a:ea typeface="+mj-ea"/>
                <a:cs typeface="+mj-cs"/>
              </a:rPr>
              <a:t>Report the outcome of the test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B6BE6-995E-4192-FD3B-5FA8904BB6DF}"/>
              </a:ext>
            </a:extLst>
          </p:cNvPr>
          <p:cNvSpPr txBox="1"/>
          <p:nvPr/>
        </p:nvSpPr>
        <p:spPr>
          <a:xfrm>
            <a:off x="5126418" y="552091"/>
            <a:ext cx="5800728" cy="542427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Calibri"/>
              </a:rPr>
              <a:t>"There is a statistically significant rise in rattlesnake body temperature of 0.027 °C (95% CI: [0.021, 0.033] °C) for every 1% increase in meal size relative to rattlesnake body weight (</a:t>
            </a:r>
            <a:r>
              <a:rPr lang="en-US" sz="2400" i="1" dirty="0">
                <a:latin typeface="Calibri"/>
              </a:rPr>
              <a:t>t</a:t>
            </a:r>
            <a:r>
              <a:rPr lang="en-US" sz="2400" baseline="-25000" dirty="0">
                <a:latin typeface="Calibri"/>
              </a:rPr>
              <a:t>18</a:t>
            </a:r>
            <a:r>
              <a:rPr lang="en-US" sz="2400" dirty="0">
                <a:latin typeface="Calibri"/>
              </a:rPr>
              <a:t> = 9.6, </a:t>
            </a:r>
            <a:r>
              <a:rPr lang="en-US" sz="2400" i="1" dirty="0">
                <a:latin typeface="Calibri"/>
              </a:rPr>
              <a:t>P </a:t>
            </a:r>
            <a:r>
              <a:rPr lang="en-US" sz="2400" dirty="0">
                <a:latin typeface="Calibri"/>
              </a:rPr>
              <a:t>= 1.6 x 10</a:t>
            </a:r>
            <a:r>
              <a:rPr lang="en-US" sz="2400" baseline="30000" dirty="0">
                <a:latin typeface="Calibri"/>
              </a:rPr>
              <a:t>-8</a:t>
            </a:r>
            <a:r>
              <a:rPr lang="en-US" sz="2400" dirty="0">
                <a:latin typeface="Calibri"/>
              </a:rPr>
              <a:t>)."</a:t>
            </a:r>
          </a:p>
        </p:txBody>
      </p:sp>
    </p:spTree>
    <p:extLst>
      <p:ext uri="{BB962C8B-B14F-4D97-AF65-F5344CB8AC3E}">
        <p14:creationId xmlns:p14="http://schemas.microsoft.com/office/powerpoint/2010/main" val="28967855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F0A37-45A6-3DB3-DB8A-5621C365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6AD2BA6-FCCD-291A-B595-3B8BA3EEC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127EB-EDB0-711F-A881-8E842AF1722C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Calibri"/>
                <a:ea typeface="+mj-ea"/>
                <a:cs typeface="+mj-cs"/>
              </a:rPr>
              <a:t>What to take away from this lecture</a:t>
            </a:r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81FC9B68-0C01-B66E-42D3-66C80AF87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A0C1F-2ACC-00E7-2CCF-45710131BAB8}"/>
              </a:ext>
            </a:extLst>
          </p:cNvPr>
          <p:cNvSpPr txBox="1"/>
          <p:nvPr/>
        </p:nvSpPr>
        <p:spPr>
          <a:xfrm>
            <a:off x="5126418" y="552091"/>
            <a:ext cx="5998554" cy="542427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 dirty="0">
                <a:latin typeface="Calibri"/>
              </a:rPr>
              <a:t>Linear models replace many (but not all) traditional statistical tests in a single unified framework.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 dirty="0">
                <a:latin typeface="Calibri"/>
              </a:rPr>
              <a:t>They are more flexible and more powerful the traditional tests.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 dirty="0">
                <a:latin typeface="Calibri"/>
              </a:rPr>
              <a:t>We have only scratched the surface of what they can do.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 dirty="0">
                <a:latin typeface="Calibri"/>
              </a:rPr>
              <a:t>They are common in some areas of biology (e.g., evolution and ecology) and less common in others (e.g., immunology) </a:t>
            </a:r>
          </a:p>
        </p:txBody>
      </p:sp>
    </p:spTree>
    <p:extLst>
      <p:ext uri="{BB962C8B-B14F-4D97-AF65-F5344CB8AC3E}">
        <p14:creationId xmlns:p14="http://schemas.microsoft.com/office/powerpoint/2010/main" val="3722295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CFCE86-E53A-A1E4-AEF4-FF938B7F4A07}"/>
              </a:ext>
            </a:extLst>
          </p:cNvPr>
          <p:cNvSpPr txBox="1"/>
          <p:nvPr/>
        </p:nvSpPr>
        <p:spPr>
          <a:xfrm>
            <a:off x="2163645" y="596280"/>
            <a:ext cx="76579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Calibri"/>
              </a:rPr>
              <a:t>Class 11 and Workflow Notebooks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B6D05-8782-180F-2FA2-2324CE6F0301}"/>
              </a:ext>
            </a:extLst>
          </p:cNvPr>
          <p:cNvSpPr txBox="1"/>
          <p:nvPr/>
        </p:nvSpPr>
        <p:spPr>
          <a:xfrm>
            <a:off x="1306396" y="1825237"/>
            <a:ext cx="9576883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  <a:cs typeface="Arial"/>
              </a:rPr>
              <a:t>Work through Class_11.ipynb</a:t>
            </a:r>
            <a:endParaRPr lang="en-US" dirty="0"/>
          </a:p>
          <a:p>
            <a:endParaRPr lang="en-US" dirty="0">
              <a:latin typeface="Calibri"/>
              <a:cs typeface="Arial"/>
            </a:endParaRPr>
          </a:p>
          <a:p>
            <a:r>
              <a:rPr lang="en-US" dirty="0">
                <a:latin typeface="Calibri"/>
                <a:cs typeface="Arial"/>
              </a:rPr>
              <a:t>Workflow Notebooks </a:t>
            </a:r>
          </a:p>
          <a:p>
            <a:endParaRPr lang="en-US" dirty="0">
              <a:latin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alibri"/>
                <a:ea typeface="Calibri"/>
                <a:cs typeface="Calibri"/>
              </a:rPr>
              <a:t>workflow_</a:t>
            </a:r>
            <a:r>
              <a:rPr lang="en-US" dirty="0" err="1">
                <a:latin typeface="Calibri"/>
                <a:cs typeface="Arial"/>
              </a:rPr>
              <a:t>ground_finch.ipynb</a:t>
            </a:r>
            <a:r>
              <a:rPr lang="en-US" dirty="0">
                <a:latin typeface="Calibri"/>
                <a:cs typeface="Arial"/>
              </a:rPr>
              <a:t> 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alibri"/>
                <a:cs typeface="Arial"/>
              </a:rPr>
              <a:t>workflow_two_finch_species.ipynb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alibri"/>
                <a:ea typeface="Calibri"/>
                <a:cs typeface="Calibri"/>
              </a:rPr>
              <a:t>workflow_</a:t>
            </a:r>
            <a:r>
              <a:rPr lang="en-US" dirty="0" err="1">
                <a:latin typeface="Calibri"/>
                <a:cs typeface="Arial"/>
              </a:rPr>
              <a:t>rattlesnakes.ipynb</a:t>
            </a:r>
            <a:r>
              <a:rPr lang="en-US" dirty="0">
                <a:latin typeface="Calibri"/>
                <a:cs typeface="Arial"/>
              </a:rPr>
              <a:t> 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Calibri"/>
              <a:cs typeface="Arial"/>
            </a:endParaRPr>
          </a:p>
          <a:p>
            <a:r>
              <a:rPr lang="en-US" dirty="0">
                <a:latin typeface="Calibri"/>
                <a:cs typeface="Arial"/>
              </a:rPr>
              <a:t>walk through the examples in the lecture in more detail. 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Calibri"/>
              <a:cs typeface="Arial"/>
            </a:endParaRPr>
          </a:p>
          <a:p>
            <a:r>
              <a:rPr lang="en-US" dirty="0">
                <a:latin typeface="Calibri"/>
                <a:cs typeface="Arial"/>
              </a:rPr>
              <a:t>Use them to answer the questions in the Class 11 notebook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77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3446</cp:revision>
  <dcterms:modified xsi:type="dcterms:W3CDTF">2026-10-26T12:12:19Z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2023-10-02T15:44:11Z</dcterms:created>
  <dc:creator>Nick Savill</dc:creator>
  <dc:description/>
  <dc:language>en-GB</dc:language>
  <cp:lastModifiedBy>Nick Savill</cp:lastModifiedBy>
  <dcterms:modified xsi:type="dcterms:W3CDTF">2023-10-10T10:37:13Z</dcterms:modified>
  <cp:revision>6</cp:revision>
  <dc:subject/>
  <dc:title/>
</cp:coreProperties>
</file>